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Lst>
  <p:sldSz cy="9144000" cx="16256000"/>
  <p:notesSz cx="9144000" cy="16256000"/>
  <p:embeddedFontLst>
    <p:embeddedFont>
      <p:font typeface="IBM Plex Sans"/>
      <p:bold r:id="rId11"/>
      <p:boldItalic r:id="rId12"/>
    </p:embeddedFont>
    <p:embeddedFont>
      <p:font typeface="Inter"/>
      <p:regular r:id="rId13"/>
      <p:bold r:id="rId14"/>
      <p:italic r:id="rId15"/>
      <p:boldItalic r:id="rId16"/>
    </p:embeddedFont>
    <p:embeddedFont>
      <p:font typeface="IBM Plex Sans Medium"/>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IBMPlexSansMedium-boldItalic.fntdata"/><Relationship Id="rId11" Type="http://schemas.openxmlformats.org/officeDocument/2006/relationships/font" Target="fonts/IBMPlexSans-bold.fntdata"/><Relationship Id="rId10" Type="http://schemas.openxmlformats.org/officeDocument/2006/relationships/slide" Target="slides/slide6.xml"/><Relationship Id="rId13" Type="http://schemas.openxmlformats.org/officeDocument/2006/relationships/font" Target="fonts/Inter-regular.fntdata"/><Relationship Id="rId12" Type="http://schemas.openxmlformats.org/officeDocument/2006/relationships/font" Target="fonts/IBMPlexSans-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Inter-italic.fntdata"/><Relationship Id="rId14" Type="http://schemas.openxmlformats.org/officeDocument/2006/relationships/font" Target="fonts/Inter-bold.fntdata"/><Relationship Id="rId17" Type="http://schemas.openxmlformats.org/officeDocument/2006/relationships/font" Target="fonts/IBMPlexSansMedium-regular.fntdata"/><Relationship Id="rId16" Type="http://schemas.openxmlformats.org/officeDocument/2006/relationships/font" Target="fonts/Inter-boldItalic.fntdata"/><Relationship Id="rId5" Type="http://schemas.openxmlformats.org/officeDocument/2006/relationships/slide" Target="slides/slide1.xml"/><Relationship Id="rId19" Type="http://schemas.openxmlformats.org/officeDocument/2006/relationships/font" Target="fonts/IBMPlexSansMedium-italic.fntdata"/><Relationship Id="rId6" Type="http://schemas.openxmlformats.org/officeDocument/2006/relationships/slide" Target="slides/slide2.xml"/><Relationship Id="rId18" Type="http://schemas.openxmlformats.org/officeDocument/2006/relationships/font" Target="fonts/IBMPlexSansMedium-bold.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h3ea7248ace93d5a1_8_0:notes"/>
          <p:cNvSpPr/>
          <p:nvPr>
            <p:ph idx="2" type="sldImg"/>
          </p:nvPr>
        </p:nvSpPr>
        <p:spPr>
          <a:xfrm>
            <a:off x="1219200" y="2032000"/>
            <a:ext cx="9753600" cy="5486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h3ea7248ace93d5a1_8_0:notes"/>
          <p:cNvSpPr txBox="1"/>
          <p:nvPr>
            <p:ph idx="1" type="body"/>
          </p:nvPr>
        </p:nvSpPr>
        <p:spPr>
          <a:xfrm>
            <a:off x="1219200" y="7823200"/>
            <a:ext cx="9753600" cy="6400800"/>
          </a:xfrm>
          <a:prstGeom prst="rect">
            <a:avLst/>
          </a:prstGeom>
          <a:noFill/>
          <a:ln>
            <a:noFill/>
          </a:ln>
        </p:spPr>
        <p:txBody>
          <a:bodyPr anchorCtr="0" anchor="t" bIns="81250" lIns="162525" spcFirstLastPara="1" rIns="162525" wrap="square" tIns="81250">
            <a:noAutofit/>
          </a:bodyPr>
          <a:lstStyle/>
          <a:p>
            <a:pPr indent="0" lvl="0" marL="0" rtl="0" algn="l">
              <a:spcBef>
                <a:spcPts val="0"/>
              </a:spcBef>
              <a:spcAft>
                <a:spcPts val="0"/>
              </a:spcAft>
              <a:buNone/>
            </a:pPr>
            <a:r>
              <a:rPr lang="en-US" sz="2500"/>
              <a:t>Our topic is DeepSeek and OpenAI, with a focus on what open-weight AI could mean for people who build software.</a:t>
            </a:r>
            <a:endParaRPr sz="2500"/>
          </a:p>
        </p:txBody>
      </p:sp>
      <p:sp>
        <p:nvSpPr>
          <p:cNvPr id="14" name="Google Shape;14;h3ea7248ace93d5a1_8_0:notes"/>
          <p:cNvSpPr txBox="1"/>
          <p:nvPr>
            <p:ph idx="12" type="sldNum"/>
          </p:nvPr>
        </p:nvSpPr>
        <p:spPr>
          <a:xfrm>
            <a:off x="6905979" y="15440379"/>
            <a:ext cx="5283200" cy="815621"/>
          </a:xfrm>
          <a:prstGeom prst="rect">
            <a:avLst/>
          </a:prstGeom>
          <a:noFill/>
          <a:ln>
            <a:noFill/>
          </a:ln>
        </p:spPr>
        <p:txBody>
          <a:bodyPr anchorCtr="0" anchor="b" bIns="81250" lIns="162525" spcFirstLastPara="1" rIns="162525" wrap="square" tIns="81250">
            <a:noAutofit/>
          </a:bodyPr>
          <a:lstStyle/>
          <a:p>
            <a:pPr indent="0" lvl="0" marL="0" rtl="0" algn="r">
              <a:spcBef>
                <a:spcPts val="0"/>
              </a:spcBef>
              <a:spcAft>
                <a:spcPts val="0"/>
              </a:spcAft>
              <a:buNone/>
            </a:pPr>
            <a:fld id="{00000000-1234-1234-1234-123412341234}" type="slidenum">
              <a:rPr lang="en-US" sz="2500"/>
              <a:t>‹#›</a:t>
            </a:fld>
            <a:endParaRPr sz="250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 name="Shape 25"/>
        <p:cNvGrpSpPr/>
        <p:nvPr/>
      </p:nvGrpSpPr>
      <p:grpSpPr>
        <a:xfrm>
          <a:off x="0" y="0"/>
          <a:ext cx="0" cy="0"/>
          <a:chOff x="0" y="0"/>
          <a:chExt cx="0" cy="0"/>
        </a:xfrm>
      </p:grpSpPr>
      <p:sp>
        <p:nvSpPr>
          <p:cNvPr id="26" name="Google Shape;26;h3ea7248ace93d5a1_10_0:notes"/>
          <p:cNvSpPr/>
          <p:nvPr>
            <p:ph idx="2" type="sldImg"/>
          </p:nvPr>
        </p:nvSpPr>
        <p:spPr>
          <a:xfrm>
            <a:off x="1219200" y="2032000"/>
            <a:ext cx="9753600" cy="5486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 name="Google Shape;27;h3ea7248ace93d5a1_10_0:notes"/>
          <p:cNvSpPr txBox="1"/>
          <p:nvPr>
            <p:ph idx="1" type="body"/>
          </p:nvPr>
        </p:nvSpPr>
        <p:spPr>
          <a:xfrm>
            <a:off x="1219200" y="7823200"/>
            <a:ext cx="9753600" cy="6400800"/>
          </a:xfrm>
          <a:prstGeom prst="rect">
            <a:avLst/>
          </a:prstGeom>
          <a:noFill/>
          <a:ln>
            <a:noFill/>
          </a:ln>
        </p:spPr>
        <p:txBody>
          <a:bodyPr anchorCtr="0" anchor="t" bIns="81250" lIns="162525" spcFirstLastPara="1" rIns="162525" wrap="square" tIns="81250">
            <a:noAutofit/>
          </a:bodyPr>
          <a:lstStyle/>
          <a:p>
            <a:pPr indent="0" lvl="0" marL="0" rtl="0" algn="l">
              <a:spcBef>
                <a:spcPts val="0"/>
              </a:spcBef>
              <a:spcAft>
                <a:spcPts val="0"/>
              </a:spcAft>
              <a:buNone/>
            </a:pPr>
            <a:r>
              <a:rPr lang="en-US" sz="2500"/>
              <a:t>One difference is flexibility. Open-weight models let developers explore the available weights and adapt a model for a project. That can give us more control over how an AI feature behaves, instead of relying only on a closed service with fixed options.</a:t>
            </a:r>
            <a:endParaRPr sz="2500"/>
          </a:p>
        </p:txBody>
      </p:sp>
      <p:sp>
        <p:nvSpPr>
          <p:cNvPr id="28" name="Google Shape;28;h3ea7248ace93d5a1_10_0:notes"/>
          <p:cNvSpPr txBox="1"/>
          <p:nvPr>
            <p:ph idx="12" type="sldNum"/>
          </p:nvPr>
        </p:nvSpPr>
        <p:spPr>
          <a:xfrm>
            <a:off x="6905979" y="15440379"/>
            <a:ext cx="5283200" cy="815621"/>
          </a:xfrm>
          <a:prstGeom prst="rect">
            <a:avLst/>
          </a:prstGeom>
          <a:noFill/>
          <a:ln>
            <a:noFill/>
          </a:ln>
        </p:spPr>
        <p:txBody>
          <a:bodyPr anchorCtr="0" anchor="b" bIns="81250" lIns="162525" spcFirstLastPara="1" rIns="162525" wrap="square" tIns="81250">
            <a:noAutofit/>
          </a:bodyPr>
          <a:lstStyle/>
          <a:p>
            <a:pPr indent="0" lvl="0" marL="0" rtl="0" algn="r">
              <a:spcBef>
                <a:spcPts val="0"/>
              </a:spcBef>
              <a:spcAft>
                <a:spcPts val="0"/>
              </a:spcAft>
              <a:buNone/>
            </a:pPr>
            <a:fld id="{00000000-1234-1234-1234-123412341234}" type="slidenum">
              <a:rPr lang="en-US" sz="2500"/>
              <a:t>‹#›</a:t>
            </a:fld>
            <a:endParaRPr sz="25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 name="Google Shape;4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 name="Google Shape;4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 name="Google Shape;6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 name="Google Shape;61;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 name="Google Shape;7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 name="Google Shape;7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h3ea7248ace93d5a1_10_18:notes"/>
          <p:cNvSpPr/>
          <p:nvPr>
            <p:ph idx="2" type="sldImg"/>
          </p:nvPr>
        </p:nvSpPr>
        <p:spPr>
          <a:xfrm>
            <a:off x="1219200" y="2032000"/>
            <a:ext cx="9753600" cy="5486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h3ea7248ace93d5a1_10_18:notes"/>
          <p:cNvSpPr txBox="1"/>
          <p:nvPr>
            <p:ph idx="1" type="body"/>
          </p:nvPr>
        </p:nvSpPr>
        <p:spPr>
          <a:xfrm>
            <a:off x="1219200" y="7823200"/>
            <a:ext cx="9753600" cy="6400800"/>
          </a:xfrm>
          <a:prstGeom prst="rect">
            <a:avLst/>
          </a:prstGeom>
          <a:noFill/>
          <a:ln>
            <a:noFill/>
          </a:ln>
        </p:spPr>
        <p:txBody>
          <a:bodyPr anchorCtr="0" anchor="t" bIns="81250" lIns="162525" spcFirstLastPara="1" rIns="162525" wrap="square" tIns="81250">
            <a:noAutofit/>
          </a:bodyPr>
          <a:lstStyle/>
          <a:p>
            <a:pPr indent="0" lvl="0" marL="0" rtl="0" algn="l">
              <a:spcBef>
                <a:spcPts val="0"/>
              </a:spcBef>
              <a:spcAft>
                <a:spcPts val="0"/>
              </a:spcAft>
              <a:buNone/>
            </a:pPr>
            <a:r>
              <a:rPr lang="en-US" sz="2500"/>
              <a:t>DeepSeek challenged the idea that advanced artificial intelligence always depends on enormous financial investment. Its example highlights efficient architectures, innovative training methods, and broader access to AI tools. For developers, the key lesson is that progress is not only about spending more; it is about finding smarter ways to solve complex problems. Thank you for watching.</a:t>
            </a:r>
            <a:endParaRPr sz="2500"/>
          </a:p>
        </p:txBody>
      </p:sp>
      <p:sp>
        <p:nvSpPr>
          <p:cNvPr id="88" name="Google Shape;88;h3ea7248ace93d5a1_10_18:notes"/>
          <p:cNvSpPr txBox="1"/>
          <p:nvPr>
            <p:ph idx="12" type="sldNum"/>
          </p:nvPr>
        </p:nvSpPr>
        <p:spPr>
          <a:xfrm>
            <a:off x="6905979" y="15440379"/>
            <a:ext cx="5283200" cy="815621"/>
          </a:xfrm>
          <a:prstGeom prst="rect">
            <a:avLst/>
          </a:prstGeom>
          <a:noFill/>
          <a:ln>
            <a:noFill/>
          </a:ln>
        </p:spPr>
        <p:txBody>
          <a:bodyPr anchorCtr="0" anchor="b" bIns="81250" lIns="162525" spcFirstLastPara="1" rIns="162525" wrap="square" tIns="81250">
            <a:noAutofit/>
          </a:bodyPr>
          <a:lstStyle/>
          <a:p>
            <a:pPr indent="0" lvl="0" marL="0" rtl="0" algn="r">
              <a:spcBef>
                <a:spcPts val="0"/>
              </a:spcBef>
              <a:spcAft>
                <a:spcPts val="0"/>
              </a:spcAft>
              <a:buNone/>
            </a:pPr>
            <a:fld id="{00000000-1234-1234-1234-123412341234}" type="slidenum">
              <a:rPr lang="en-US" sz="2500"/>
              <a:t>‹#›</a:t>
            </a:fld>
            <a:endParaRPr sz="25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 name="Shape 15"/>
        <p:cNvGrpSpPr/>
        <p:nvPr/>
      </p:nvGrpSpPr>
      <p:grpSpPr>
        <a:xfrm>
          <a:off x="0" y="0"/>
          <a:ext cx="0" cy="0"/>
          <a:chOff x="0" y="0"/>
          <a:chExt cx="0" cy="0"/>
        </a:xfrm>
      </p:grpSpPr>
      <p:pic>
        <p:nvPicPr>
          <p:cNvPr id="16" name="Google Shape;16;p3" title="c8ca10d1-3c32-4342-a6b6-f99916108152.jpeg"/>
          <p:cNvPicPr preferRelativeResize="0"/>
          <p:nvPr/>
        </p:nvPicPr>
        <p:blipFill rotWithShape="1">
          <a:blip r:embed="rId3">
            <a:alphaModFix/>
          </a:blip>
          <a:srcRect b="10" l="0" r="0" t="10"/>
          <a:stretch/>
        </p:blipFill>
        <p:spPr>
          <a:xfrm>
            <a:off x="0" y="0"/>
            <a:ext cx="16256000" cy="9403876"/>
          </a:xfrm>
          <a:prstGeom prst="rect">
            <a:avLst/>
          </a:prstGeom>
          <a:noFill/>
          <a:ln>
            <a:noFill/>
          </a:ln>
        </p:spPr>
      </p:pic>
      <p:sp>
        <p:nvSpPr>
          <p:cNvPr id="17" name="Google Shape;17;p3"/>
          <p:cNvSpPr/>
          <p:nvPr/>
        </p:nvSpPr>
        <p:spPr>
          <a:xfrm>
            <a:off x="1270000" y="2788444"/>
            <a:ext cx="13716000" cy="3619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E5FF"/>
              </a:buClr>
              <a:buSzPts val="2000"/>
              <a:buFont typeface="IBM Plex Sans"/>
              <a:buNone/>
            </a:pPr>
            <a:r>
              <a:rPr b="1" i="0" lang="en-US" sz="2000" u="none" cap="none" strike="noStrike">
                <a:solidFill>
                  <a:srgbClr val="00E5FF"/>
                </a:solidFill>
                <a:latin typeface="IBM Plex Sans"/>
                <a:ea typeface="IBM Plex Sans"/>
                <a:cs typeface="IBM Plex Sans"/>
                <a:sym typeface="IBM Plex Sans"/>
              </a:rPr>
              <a:t>DEEPSEEK VS OPENAI</a:t>
            </a:r>
            <a:endParaRPr b="0" i="0" sz="2000" u="none" cap="none" strike="noStrike">
              <a:solidFill>
                <a:schemeClr val="dk1"/>
              </a:solidFill>
              <a:latin typeface="Calibri"/>
              <a:ea typeface="Calibri"/>
              <a:cs typeface="Calibri"/>
              <a:sym typeface="Calibri"/>
            </a:endParaRPr>
          </a:p>
        </p:txBody>
      </p:sp>
      <p:sp>
        <p:nvSpPr>
          <p:cNvPr id="18" name="Google Shape;18;p3"/>
          <p:cNvSpPr/>
          <p:nvPr/>
        </p:nvSpPr>
        <p:spPr>
          <a:xfrm>
            <a:off x="1270000" y="3582194"/>
            <a:ext cx="11938000" cy="1865312"/>
          </a:xfrm>
          <a:prstGeom prst="rect">
            <a:avLst/>
          </a:prstGeom>
          <a:noFill/>
          <a:ln>
            <a:noFill/>
          </a:ln>
        </p:spPr>
        <p:txBody>
          <a:bodyPr anchorCtr="0" anchor="t" bIns="0" lIns="0" spcFirstLastPara="1" rIns="0" wrap="square" tIns="0">
            <a:noAutofit/>
          </a:bodyPr>
          <a:lstStyle/>
          <a:p>
            <a:pPr indent="0" lvl="0" marL="0" rtl="0" algn="l">
              <a:lnSpc>
                <a:spcPct val="88000"/>
              </a:lnSpc>
              <a:spcBef>
                <a:spcPts val="0"/>
              </a:spcBef>
              <a:spcAft>
                <a:spcPts val="0"/>
              </a:spcAft>
              <a:buClr>
                <a:schemeClr val="lt1"/>
              </a:buClr>
              <a:buSzPts val="7400"/>
              <a:buFont typeface="IBM Plex Sans"/>
              <a:buNone/>
            </a:pPr>
            <a:r>
              <a:rPr b="1" lang="en-US" sz="7400">
                <a:solidFill>
                  <a:schemeClr val="lt1"/>
                </a:solidFill>
                <a:latin typeface="IBM Plex Sans"/>
                <a:ea typeface="IBM Plex Sans"/>
                <a:cs typeface="IBM Plex Sans"/>
                <a:sym typeface="IBM Plex Sans"/>
              </a:rPr>
              <a:t>What Is The Impact of AI On The Economy?</a:t>
            </a:r>
            <a:endParaRPr b="0" i="0" sz="6200" u="none" cap="none" strike="noStrike">
              <a:solidFill>
                <a:schemeClr val="dk1"/>
              </a:solidFill>
              <a:latin typeface="Calibri"/>
              <a:ea typeface="Calibri"/>
              <a:cs typeface="Calibri"/>
              <a:sym typeface="Calibri"/>
            </a:endParaRPr>
          </a:p>
        </p:txBody>
      </p:sp>
      <p:sp>
        <p:nvSpPr>
          <p:cNvPr id="19" name="Google Shape;19;p3"/>
          <p:cNvSpPr/>
          <p:nvPr/>
        </p:nvSpPr>
        <p:spPr>
          <a:xfrm>
            <a:off x="1270000" y="5853906"/>
            <a:ext cx="13716000" cy="501650"/>
          </a:xfrm>
          <a:prstGeom prst="rect">
            <a:avLst/>
          </a:prstGeom>
          <a:solidFill>
            <a:srgbClr val="000000">
              <a:alpha val="0"/>
            </a:srgbClr>
          </a:solidFill>
          <a:ln>
            <a:noFill/>
          </a:ln>
        </p:spPr>
        <p:txBody>
          <a:bodyPr anchorCtr="0" anchor="ctr" bIns="162525" lIns="162525" spcFirstLastPara="1" rIns="162525" wrap="square" tIns="162525">
            <a:noAutofit/>
          </a:bodyPr>
          <a:lstStyle/>
          <a:p>
            <a:pPr indent="0" lvl="0" marL="0" rtl="0" algn="l">
              <a:spcBef>
                <a:spcPts val="0"/>
              </a:spcBef>
              <a:spcAft>
                <a:spcPts val="0"/>
              </a:spcAft>
              <a:buNone/>
            </a:pPr>
            <a:r>
              <a:t/>
            </a:r>
            <a:endParaRPr/>
          </a:p>
        </p:txBody>
      </p:sp>
      <p:sp>
        <p:nvSpPr>
          <p:cNvPr id="20" name="Google Shape;20;p3"/>
          <p:cNvSpPr/>
          <p:nvPr/>
        </p:nvSpPr>
        <p:spPr>
          <a:xfrm>
            <a:off x="1270000" y="5853906"/>
            <a:ext cx="63500" cy="501650"/>
          </a:xfrm>
          <a:prstGeom prst="rect">
            <a:avLst/>
          </a:prstGeom>
          <a:solidFill>
            <a:srgbClr val="00E5FF"/>
          </a:solidFill>
          <a:ln>
            <a:noFill/>
          </a:ln>
        </p:spPr>
        <p:txBody>
          <a:bodyPr anchorCtr="0" anchor="ctr" bIns="162525" lIns="162525" spcFirstLastPara="1" rIns="162525" wrap="square" tIns="162525">
            <a:noAutofit/>
          </a:bodyPr>
          <a:lstStyle/>
          <a:p>
            <a:pPr indent="0" lvl="0" marL="0" rtl="0" algn="l">
              <a:spcBef>
                <a:spcPts val="0"/>
              </a:spcBef>
              <a:spcAft>
                <a:spcPts val="0"/>
              </a:spcAft>
              <a:buNone/>
            </a:pPr>
            <a:r>
              <a:t/>
            </a:r>
            <a:endParaRPr/>
          </a:p>
        </p:txBody>
      </p:sp>
      <p:sp>
        <p:nvSpPr>
          <p:cNvPr id="21" name="Google Shape;21;p3"/>
          <p:cNvSpPr/>
          <p:nvPr/>
        </p:nvSpPr>
        <p:spPr>
          <a:xfrm>
            <a:off x="1270000" y="5853906"/>
            <a:ext cx="13716267" cy="501867"/>
          </a:xfrm>
          <a:prstGeom prst="rect">
            <a:avLst/>
          </a:prstGeom>
          <a:noFill/>
          <a:ln>
            <a:noFill/>
          </a:ln>
        </p:spPr>
        <p:txBody>
          <a:bodyPr anchorCtr="0" anchor="t" bIns="0" lIns="362800" spcFirstLastPara="1" rIns="0" wrap="square" tIns="0">
            <a:noAutofit/>
          </a:bodyPr>
          <a:lstStyle/>
          <a:p>
            <a:pPr indent="0" lvl="0" marL="0" marR="0" rtl="0" algn="l">
              <a:spcBef>
                <a:spcPts val="0"/>
              </a:spcBef>
              <a:spcAft>
                <a:spcPts val="0"/>
              </a:spcAft>
              <a:buClr>
                <a:srgbClr val="CBD5E1"/>
              </a:buClr>
              <a:buSzPts val="2800"/>
              <a:buFont typeface="IBM Plex Sans"/>
              <a:buNone/>
            </a:pPr>
            <a:r>
              <a:rPr b="0" i="0" lang="en-US" sz="2800" u="none" cap="none" strike="noStrike">
                <a:solidFill>
                  <a:srgbClr val="CBD5E1"/>
                </a:solidFill>
                <a:latin typeface="IBM Plex Sans"/>
                <a:ea typeface="IBM Plex Sans"/>
                <a:cs typeface="IBM Plex Sans"/>
                <a:sym typeface="IBM Plex Sans"/>
              </a:rPr>
              <a:t>Flexibility. Access. Responsible building.</a:t>
            </a:r>
            <a:endParaRPr b="0" i="0" sz="2800" u="none" cap="none" strike="noStrike">
              <a:solidFill>
                <a:schemeClr val="dk1"/>
              </a:solidFill>
              <a:latin typeface="Calibri"/>
              <a:ea typeface="Calibri"/>
              <a:cs typeface="Calibri"/>
              <a:sym typeface="Calibri"/>
            </a:endParaRPr>
          </a:p>
        </p:txBody>
      </p:sp>
      <p:sp>
        <p:nvSpPr>
          <p:cNvPr id="22" name="Google Shape;22;p3"/>
          <p:cNvSpPr/>
          <p:nvPr/>
        </p:nvSpPr>
        <p:spPr>
          <a:xfrm>
            <a:off x="1270000" y="8128000"/>
            <a:ext cx="13716000" cy="508000"/>
          </a:xfrm>
          <a:prstGeom prst="rect">
            <a:avLst/>
          </a:prstGeom>
          <a:solidFill>
            <a:srgbClr val="000000">
              <a:alpha val="0"/>
            </a:srgbClr>
          </a:solidFill>
          <a:ln>
            <a:noFill/>
          </a:ln>
        </p:spPr>
        <p:txBody>
          <a:bodyPr anchorCtr="0" anchor="ctr" bIns="162525" lIns="162525" spcFirstLastPara="1" rIns="162525" wrap="square" tIns="162525">
            <a:noAutofit/>
          </a:bodyPr>
          <a:lstStyle/>
          <a:p>
            <a:pPr indent="0" lvl="0" marL="0" rtl="0" algn="l">
              <a:spcBef>
                <a:spcPts val="0"/>
              </a:spcBef>
              <a:spcAft>
                <a:spcPts val="0"/>
              </a:spcAft>
              <a:buNone/>
            </a:pPr>
            <a:r>
              <a:t/>
            </a:r>
            <a:endParaRPr/>
          </a:p>
        </p:txBody>
      </p:sp>
      <p:sp>
        <p:nvSpPr>
          <p:cNvPr id="23" name="Google Shape;23;p3"/>
          <p:cNvSpPr/>
          <p:nvPr/>
        </p:nvSpPr>
        <p:spPr>
          <a:xfrm>
            <a:off x="1270000" y="8128000"/>
            <a:ext cx="13716000" cy="12700"/>
          </a:xfrm>
          <a:prstGeom prst="rect">
            <a:avLst/>
          </a:prstGeom>
          <a:solidFill>
            <a:srgbClr val="1E293B"/>
          </a:solidFill>
          <a:ln>
            <a:noFill/>
          </a:ln>
        </p:spPr>
        <p:txBody>
          <a:bodyPr anchorCtr="0" anchor="ctr" bIns="162525" lIns="162525" spcFirstLastPara="1" rIns="162525" wrap="square" tIns="162525">
            <a:noAutofit/>
          </a:bodyPr>
          <a:lstStyle/>
          <a:p>
            <a:pPr indent="0" lvl="0" marL="0" rtl="0" algn="l">
              <a:spcBef>
                <a:spcPts val="0"/>
              </a:spcBef>
              <a:spcAft>
                <a:spcPts val="0"/>
              </a:spcAft>
              <a:buNone/>
            </a:pPr>
            <a:r>
              <a:t/>
            </a:r>
            <a:endParaRPr/>
          </a:p>
        </p:txBody>
      </p:sp>
      <p:sp>
        <p:nvSpPr>
          <p:cNvPr id="24" name="Google Shape;24;p3"/>
          <p:cNvSpPr/>
          <p:nvPr/>
        </p:nvSpPr>
        <p:spPr>
          <a:xfrm>
            <a:off x="1270000" y="8369300"/>
            <a:ext cx="1492251"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400"/>
              <a:buFont typeface="IBM Plex Sans"/>
              <a:buNone/>
            </a:pPr>
            <a:r>
              <a:rPr b="1" i="0" lang="en-US" sz="1400" u="none" cap="none" strike="noStrike">
                <a:solidFill>
                  <a:srgbClr val="64748B"/>
                </a:solidFill>
                <a:latin typeface="IBM Plex Sans"/>
                <a:ea typeface="IBM Plex Sans"/>
                <a:cs typeface="IBM Plex Sans"/>
                <a:sym typeface="IBM Plex Sans"/>
              </a:rPr>
              <a:t>Group Project 1</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 name="Shape 29"/>
        <p:cNvGrpSpPr/>
        <p:nvPr/>
      </p:nvGrpSpPr>
      <p:grpSpPr>
        <a:xfrm>
          <a:off x="0" y="0"/>
          <a:ext cx="0" cy="0"/>
          <a:chOff x="0" y="0"/>
          <a:chExt cx="0" cy="0"/>
        </a:xfrm>
      </p:grpSpPr>
      <p:pic>
        <p:nvPicPr>
          <p:cNvPr descr="preencoded.png" id="30" name="Google Shape;30;p4"/>
          <p:cNvPicPr preferRelativeResize="0"/>
          <p:nvPr/>
        </p:nvPicPr>
        <p:blipFill rotWithShape="1">
          <a:blip r:embed="rId3">
            <a:alphaModFix/>
          </a:blip>
          <a:srcRect b="0" l="0" r="0" t="0"/>
          <a:stretch/>
        </p:blipFill>
        <p:spPr>
          <a:xfrm>
            <a:off x="0" y="0"/>
            <a:ext cx="16256000" cy="9144000"/>
          </a:xfrm>
          <a:prstGeom prst="rect">
            <a:avLst/>
          </a:prstGeom>
          <a:noFill/>
          <a:ln>
            <a:noFill/>
          </a:ln>
        </p:spPr>
      </p:pic>
      <p:sp>
        <p:nvSpPr>
          <p:cNvPr id="31" name="Google Shape;31;p4"/>
          <p:cNvSpPr/>
          <p:nvPr/>
        </p:nvSpPr>
        <p:spPr>
          <a:xfrm>
            <a:off x="1270000" y="1016000"/>
            <a:ext cx="13716000" cy="723900"/>
          </a:xfrm>
          <a:prstGeom prst="rect">
            <a:avLst/>
          </a:prstGeom>
          <a:noFill/>
          <a:ln>
            <a:noFill/>
          </a:ln>
        </p:spPr>
        <p:txBody>
          <a:bodyPr anchorCtr="0" anchor="t" bIns="0" lIns="362800" spcFirstLastPara="1" rIns="0" wrap="square" tIns="0">
            <a:noAutofit/>
          </a:bodyPr>
          <a:lstStyle/>
          <a:p>
            <a:pPr indent="0" lvl="0" marL="0" marR="0" rtl="0" algn="l">
              <a:spcBef>
                <a:spcPts val="0"/>
              </a:spcBef>
              <a:spcAft>
                <a:spcPts val="0"/>
              </a:spcAft>
              <a:buClr>
                <a:srgbClr val="FFFFFF"/>
              </a:buClr>
              <a:buSzPts val="4000"/>
              <a:buFont typeface="IBM Plex Sans"/>
              <a:buNone/>
            </a:pPr>
            <a:r>
              <a:rPr b="1" i="0" lang="en-US" sz="4000" u="none" cap="none" strike="noStrike">
                <a:solidFill>
                  <a:srgbClr val="FFFFFF"/>
                </a:solidFill>
                <a:latin typeface="IBM Plex Sans"/>
                <a:ea typeface="IBM Plex Sans"/>
                <a:cs typeface="IBM Plex Sans"/>
                <a:sym typeface="IBM Plex Sans"/>
              </a:rPr>
              <a:t>Open-Weight Models: More Developer Choice</a:t>
            </a:r>
            <a:endParaRPr b="0" i="0" sz="4000" u="none" cap="none" strike="noStrike">
              <a:solidFill>
                <a:schemeClr val="dk1"/>
              </a:solidFill>
              <a:latin typeface="Calibri"/>
              <a:ea typeface="Calibri"/>
              <a:cs typeface="Calibri"/>
              <a:sym typeface="Calibri"/>
            </a:endParaRPr>
          </a:p>
        </p:txBody>
      </p:sp>
      <p:sp>
        <p:nvSpPr>
          <p:cNvPr id="32" name="Google Shape;32;p4"/>
          <p:cNvSpPr/>
          <p:nvPr/>
        </p:nvSpPr>
        <p:spPr>
          <a:xfrm>
            <a:off x="1270000" y="2374900"/>
            <a:ext cx="13716000" cy="108585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E5FF"/>
              </a:buClr>
              <a:buSzPts val="6000"/>
              <a:buFont typeface="IBM Plex Sans"/>
              <a:buNone/>
            </a:pPr>
            <a:r>
              <a:rPr b="1" i="0" lang="en-US" sz="6000" u="none" cap="none" strike="noStrike">
                <a:solidFill>
                  <a:srgbClr val="00E5FF"/>
                </a:solidFill>
                <a:latin typeface="IBM Plex Sans"/>
                <a:ea typeface="IBM Plex Sans"/>
                <a:cs typeface="IBM Plex Sans"/>
                <a:sym typeface="IBM Plex Sans"/>
              </a:rPr>
              <a:t>BUILD ON IT</a:t>
            </a:r>
            <a:endParaRPr b="0" i="0" sz="6000" u="none" cap="none" strike="noStrike">
              <a:solidFill>
                <a:schemeClr val="dk1"/>
              </a:solidFill>
              <a:latin typeface="Calibri"/>
              <a:ea typeface="Calibri"/>
              <a:cs typeface="Calibri"/>
              <a:sym typeface="Calibri"/>
            </a:endParaRPr>
          </a:p>
        </p:txBody>
      </p:sp>
      <p:sp>
        <p:nvSpPr>
          <p:cNvPr id="33" name="Google Shape;33;p4"/>
          <p:cNvSpPr/>
          <p:nvPr/>
        </p:nvSpPr>
        <p:spPr>
          <a:xfrm>
            <a:off x="1270000" y="3613150"/>
            <a:ext cx="13716000" cy="42545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300"/>
              <a:buFont typeface="IBM Plex Sans"/>
              <a:buNone/>
            </a:pPr>
            <a:r>
              <a:rPr b="1" i="0" lang="en-US" sz="2300" u="none" cap="none" strike="noStrike">
                <a:solidFill>
                  <a:srgbClr val="FFFFFF"/>
                </a:solidFill>
                <a:latin typeface="IBM Plex Sans"/>
                <a:ea typeface="IBM Plex Sans"/>
                <a:cs typeface="IBM Plex Sans"/>
                <a:sym typeface="IBM Plex Sans"/>
              </a:rPr>
              <a:t>More flexibility to create AI-powered software</a:t>
            </a:r>
            <a:endParaRPr b="0" i="0" sz="2300" u="none" cap="none" strike="noStrike">
              <a:solidFill>
                <a:schemeClr val="dk1"/>
              </a:solidFill>
              <a:latin typeface="Calibri"/>
              <a:ea typeface="Calibri"/>
              <a:cs typeface="Calibri"/>
              <a:sym typeface="Calibri"/>
            </a:endParaRPr>
          </a:p>
        </p:txBody>
      </p:sp>
      <p:sp>
        <p:nvSpPr>
          <p:cNvPr id="34" name="Google Shape;34;p4"/>
          <p:cNvSpPr/>
          <p:nvPr/>
        </p:nvSpPr>
        <p:spPr>
          <a:xfrm>
            <a:off x="1270000" y="4470400"/>
            <a:ext cx="13716000" cy="462855"/>
          </a:xfrm>
          <a:prstGeom prst="rect">
            <a:avLst/>
          </a:prstGeom>
          <a:noFill/>
          <a:ln>
            <a:noFill/>
          </a:ln>
        </p:spPr>
        <p:txBody>
          <a:bodyPr anchorCtr="0" anchor="t" bIns="0" lIns="423325" spcFirstLastPara="1" rIns="0" wrap="square" tIns="0">
            <a:noAutofit/>
          </a:bodyPr>
          <a:lstStyle/>
          <a:p>
            <a:pPr indent="0" lvl="0" marL="0" marR="0" rtl="0" algn="l">
              <a:lnSpc>
                <a:spcPct val="108000"/>
              </a:lnSpc>
              <a:spcBef>
                <a:spcPts val="0"/>
              </a:spcBef>
              <a:spcAft>
                <a:spcPts val="0"/>
              </a:spcAft>
              <a:buClr>
                <a:srgbClr val="E2E8F0"/>
              </a:buClr>
              <a:buSzPts val="2600"/>
              <a:buFont typeface="IBM Plex Sans"/>
              <a:buNone/>
            </a:pPr>
            <a:r>
              <a:rPr b="0" i="0" lang="en-US" sz="2600" u="none" cap="none" strike="noStrike">
                <a:solidFill>
                  <a:srgbClr val="E2E8F0"/>
                </a:solidFill>
                <a:latin typeface="IBM Plex Sans"/>
                <a:ea typeface="IBM Plex Sans"/>
                <a:cs typeface="IBM Plex Sans"/>
                <a:sym typeface="IBM Plex Sans"/>
              </a:rPr>
              <a:t>Explore and adapt model weights for your project.</a:t>
            </a:r>
            <a:endParaRPr b="0" i="0" sz="2600" u="none" cap="none" strike="noStrike">
              <a:solidFill>
                <a:schemeClr val="dk1"/>
              </a:solidFill>
              <a:latin typeface="Calibri"/>
              <a:ea typeface="Calibri"/>
              <a:cs typeface="Calibri"/>
              <a:sym typeface="Calibri"/>
            </a:endParaRPr>
          </a:p>
        </p:txBody>
      </p:sp>
      <p:sp>
        <p:nvSpPr>
          <p:cNvPr id="35" name="Google Shape;35;p4"/>
          <p:cNvSpPr/>
          <p:nvPr/>
        </p:nvSpPr>
        <p:spPr>
          <a:xfrm>
            <a:off x="1270000" y="5238055"/>
            <a:ext cx="13716000" cy="462855"/>
          </a:xfrm>
          <a:prstGeom prst="rect">
            <a:avLst/>
          </a:prstGeom>
          <a:noFill/>
          <a:ln>
            <a:noFill/>
          </a:ln>
        </p:spPr>
        <p:txBody>
          <a:bodyPr anchorCtr="0" anchor="t" bIns="0" lIns="423325" spcFirstLastPara="1" rIns="0" wrap="square" tIns="0">
            <a:noAutofit/>
          </a:bodyPr>
          <a:lstStyle/>
          <a:p>
            <a:pPr indent="0" lvl="0" marL="0" marR="0" rtl="0" algn="l">
              <a:lnSpc>
                <a:spcPct val="108000"/>
              </a:lnSpc>
              <a:spcBef>
                <a:spcPts val="0"/>
              </a:spcBef>
              <a:spcAft>
                <a:spcPts val="0"/>
              </a:spcAft>
              <a:buClr>
                <a:srgbClr val="E2E8F0"/>
              </a:buClr>
              <a:buSzPts val="2600"/>
              <a:buFont typeface="IBM Plex Sans"/>
              <a:buNone/>
            </a:pPr>
            <a:r>
              <a:rPr b="0" i="0" lang="en-US" sz="2600" u="none" cap="none" strike="noStrike">
                <a:solidFill>
                  <a:srgbClr val="E2E8F0"/>
                </a:solidFill>
                <a:latin typeface="IBM Plex Sans"/>
                <a:ea typeface="IBM Plex Sans"/>
                <a:cs typeface="IBM Plex Sans"/>
                <a:sym typeface="IBM Plex Sans"/>
              </a:rPr>
              <a:t>Customize AI behavior for specific application needs.</a:t>
            </a:r>
            <a:endParaRPr b="0" i="0" sz="2600" u="none" cap="none" strike="noStrike">
              <a:solidFill>
                <a:schemeClr val="dk1"/>
              </a:solidFill>
              <a:latin typeface="Calibri"/>
              <a:ea typeface="Calibri"/>
              <a:cs typeface="Calibri"/>
              <a:sym typeface="Calibri"/>
            </a:endParaRPr>
          </a:p>
        </p:txBody>
      </p:sp>
      <p:sp>
        <p:nvSpPr>
          <p:cNvPr id="36" name="Google Shape;36;p4"/>
          <p:cNvSpPr/>
          <p:nvPr/>
        </p:nvSpPr>
        <p:spPr>
          <a:xfrm>
            <a:off x="1270000" y="6005710"/>
            <a:ext cx="13716000" cy="462855"/>
          </a:xfrm>
          <a:prstGeom prst="rect">
            <a:avLst/>
          </a:prstGeom>
          <a:noFill/>
          <a:ln>
            <a:noFill/>
          </a:ln>
        </p:spPr>
        <p:txBody>
          <a:bodyPr anchorCtr="0" anchor="t" bIns="0" lIns="423325" spcFirstLastPara="1" rIns="0" wrap="square" tIns="0">
            <a:noAutofit/>
          </a:bodyPr>
          <a:lstStyle/>
          <a:p>
            <a:pPr indent="0" lvl="0" marL="0" marR="0" rtl="0" algn="l">
              <a:lnSpc>
                <a:spcPct val="108000"/>
              </a:lnSpc>
              <a:spcBef>
                <a:spcPts val="0"/>
              </a:spcBef>
              <a:spcAft>
                <a:spcPts val="0"/>
              </a:spcAft>
              <a:buClr>
                <a:srgbClr val="E2E8F0"/>
              </a:buClr>
              <a:buSzPts val="2600"/>
              <a:buFont typeface="IBM Plex Sans"/>
              <a:buNone/>
            </a:pPr>
            <a:r>
              <a:rPr b="0" i="0" lang="en-US" sz="2600" u="none" cap="none" strike="noStrike">
                <a:solidFill>
                  <a:srgbClr val="E2E8F0"/>
                </a:solidFill>
                <a:latin typeface="IBM Plex Sans"/>
                <a:ea typeface="IBM Plex Sans"/>
                <a:cs typeface="IBM Plex Sans"/>
                <a:sym typeface="IBM Plex Sans"/>
              </a:rPr>
              <a:t>Rely less on one closed, proprietary service.</a:t>
            </a:r>
            <a:endParaRPr b="0" i="0" sz="2600" u="none" cap="none" strike="noStrike">
              <a:solidFill>
                <a:schemeClr val="dk1"/>
              </a:solidFill>
              <a:latin typeface="Calibri"/>
              <a:ea typeface="Calibri"/>
              <a:cs typeface="Calibri"/>
              <a:sym typeface="Calibri"/>
            </a:endParaRPr>
          </a:p>
        </p:txBody>
      </p:sp>
      <p:sp>
        <p:nvSpPr>
          <p:cNvPr id="37" name="Google Shape;37;p4"/>
          <p:cNvSpPr/>
          <p:nvPr/>
        </p:nvSpPr>
        <p:spPr>
          <a:xfrm>
            <a:off x="1270000" y="8128000"/>
            <a:ext cx="13716000" cy="508000"/>
          </a:xfrm>
          <a:prstGeom prst="rect">
            <a:avLst/>
          </a:prstGeom>
          <a:solidFill>
            <a:srgbClr val="000000">
              <a:alpha val="0"/>
            </a:srgbClr>
          </a:solidFill>
          <a:ln>
            <a:noFill/>
          </a:ln>
        </p:spPr>
        <p:txBody>
          <a:bodyPr anchorCtr="0" anchor="ctr" bIns="162525" lIns="162525" spcFirstLastPara="1" rIns="162525" wrap="square" tIns="162525">
            <a:noAutofit/>
          </a:bodyPr>
          <a:lstStyle/>
          <a:p>
            <a:pPr indent="0" lvl="0" marL="0" rtl="0" algn="l">
              <a:spcBef>
                <a:spcPts val="0"/>
              </a:spcBef>
              <a:spcAft>
                <a:spcPts val="0"/>
              </a:spcAft>
              <a:buNone/>
            </a:pPr>
            <a:r>
              <a:t/>
            </a:r>
            <a:endParaRPr/>
          </a:p>
        </p:txBody>
      </p:sp>
      <p:sp>
        <p:nvSpPr>
          <p:cNvPr id="38" name="Google Shape;38;p4"/>
          <p:cNvSpPr/>
          <p:nvPr/>
        </p:nvSpPr>
        <p:spPr>
          <a:xfrm>
            <a:off x="1270000" y="8128000"/>
            <a:ext cx="13716000" cy="12700"/>
          </a:xfrm>
          <a:prstGeom prst="rect">
            <a:avLst/>
          </a:prstGeom>
          <a:solidFill>
            <a:srgbClr val="FFFFFF"/>
          </a:solidFill>
          <a:ln>
            <a:noFill/>
          </a:ln>
        </p:spPr>
        <p:txBody>
          <a:bodyPr anchorCtr="0" anchor="ctr" bIns="162525" lIns="162525" spcFirstLastPara="1" rIns="162525" wrap="square" tIns="162525">
            <a:noAutofit/>
          </a:bodyPr>
          <a:lstStyle/>
          <a:p>
            <a:pPr indent="0" lvl="0" marL="0" rtl="0" algn="l">
              <a:spcBef>
                <a:spcPts val="0"/>
              </a:spcBef>
              <a:spcAft>
                <a:spcPts val="0"/>
              </a:spcAft>
              <a:buNone/>
            </a:pPr>
            <a:r>
              <a:t/>
            </a:r>
            <a:endParaRPr/>
          </a:p>
        </p:txBody>
      </p:sp>
      <p:sp>
        <p:nvSpPr>
          <p:cNvPr id="39" name="Google Shape;39;p4"/>
          <p:cNvSpPr/>
          <p:nvPr/>
        </p:nvSpPr>
        <p:spPr>
          <a:xfrm>
            <a:off x="1270000" y="4470400"/>
            <a:ext cx="342900" cy="462756"/>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00E5FF"/>
              </a:buClr>
              <a:buSzPts val="2400"/>
              <a:buFont typeface="IBM Plex Sans"/>
              <a:buNone/>
            </a:pPr>
            <a:r>
              <a:rPr b="1" i="0" lang="en-US" sz="2400" u="none" cap="none" strike="noStrike">
                <a:solidFill>
                  <a:srgbClr val="00E5FF"/>
                </a:solidFill>
                <a:latin typeface="IBM Plex Sans"/>
                <a:ea typeface="IBM Plex Sans"/>
                <a:cs typeface="IBM Plex Sans"/>
                <a:sym typeface="IBM Plex Sans"/>
              </a:rPr>
              <a:t>→</a:t>
            </a:r>
            <a:endParaRPr b="0" i="0" sz="2400" u="none" cap="none" strike="noStrike">
              <a:solidFill>
                <a:schemeClr val="dk1"/>
              </a:solidFill>
              <a:latin typeface="Calibri"/>
              <a:ea typeface="Calibri"/>
              <a:cs typeface="Calibri"/>
              <a:sym typeface="Calibri"/>
            </a:endParaRPr>
          </a:p>
        </p:txBody>
      </p:sp>
      <p:sp>
        <p:nvSpPr>
          <p:cNvPr id="40" name="Google Shape;40;p4"/>
          <p:cNvSpPr/>
          <p:nvPr/>
        </p:nvSpPr>
        <p:spPr>
          <a:xfrm>
            <a:off x="1270000" y="5238055"/>
            <a:ext cx="342900" cy="462756"/>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00E5FF"/>
              </a:buClr>
              <a:buSzPts val="2400"/>
              <a:buFont typeface="IBM Plex Sans"/>
              <a:buNone/>
            </a:pPr>
            <a:r>
              <a:rPr b="1" i="0" lang="en-US" sz="2400" u="none" cap="none" strike="noStrike">
                <a:solidFill>
                  <a:srgbClr val="00E5FF"/>
                </a:solidFill>
                <a:latin typeface="IBM Plex Sans"/>
                <a:ea typeface="IBM Plex Sans"/>
                <a:cs typeface="IBM Plex Sans"/>
                <a:sym typeface="IBM Plex Sans"/>
              </a:rPr>
              <a:t>→</a:t>
            </a:r>
            <a:endParaRPr b="0" i="0" sz="2400" u="none" cap="none" strike="noStrike">
              <a:solidFill>
                <a:schemeClr val="dk1"/>
              </a:solidFill>
              <a:latin typeface="Calibri"/>
              <a:ea typeface="Calibri"/>
              <a:cs typeface="Calibri"/>
              <a:sym typeface="Calibri"/>
            </a:endParaRPr>
          </a:p>
        </p:txBody>
      </p:sp>
      <p:sp>
        <p:nvSpPr>
          <p:cNvPr id="41" name="Google Shape;41;p4"/>
          <p:cNvSpPr/>
          <p:nvPr/>
        </p:nvSpPr>
        <p:spPr>
          <a:xfrm>
            <a:off x="1270000" y="6005710"/>
            <a:ext cx="342900" cy="462756"/>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00E5FF"/>
              </a:buClr>
              <a:buSzPts val="2400"/>
              <a:buFont typeface="IBM Plex Sans"/>
              <a:buNone/>
            </a:pPr>
            <a:r>
              <a:rPr b="1" i="0" lang="en-US" sz="2400" u="none" cap="none" strike="noStrike">
                <a:solidFill>
                  <a:srgbClr val="00E5FF"/>
                </a:solidFill>
                <a:latin typeface="IBM Plex Sans"/>
                <a:ea typeface="IBM Plex Sans"/>
                <a:cs typeface="IBM Plex Sans"/>
                <a:sym typeface="IBM Plex Sans"/>
              </a:rPr>
              <a:t>→</a:t>
            </a:r>
            <a:endParaRPr b="0" i="0" sz="2400" u="none" cap="none" strike="noStrike">
              <a:solidFill>
                <a:schemeClr val="dk1"/>
              </a:solidFill>
              <a:latin typeface="Calibri"/>
              <a:ea typeface="Calibri"/>
              <a:cs typeface="Calibri"/>
              <a:sym typeface="Calibri"/>
            </a:endParaRPr>
          </a:p>
        </p:txBody>
      </p:sp>
      <p:sp>
        <p:nvSpPr>
          <p:cNvPr id="42" name="Google Shape;42;p4"/>
          <p:cNvSpPr/>
          <p:nvPr/>
        </p:nvSpPr>
        <p:spPr>
          <a:xfrm>
            <a:off x="1270000" y="8369300"/>
            <a:ext cx="2000251"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94A3B8"/>
              </a:buClr>
              <a:buSzPts val="1400"/>
              <a:buFont typeface="IBM Plex Sans"/>
              <a:buNone/>
            </a:pPr>
            <a:r>
              <a:rPr b="1" i="0" lang="en-US" sz="1400" u="none" cap="none" strike="noStrike">
                <a:solidFill>
                  <a:srgbClr val="94A3B8"/>
                </a:solidFill>
                <a:latin typeface="IBM Plex Sans"/>
                <a:ea typeface="IBM Plex Sans"/>
                <a:cs typeface="IBM Plex Sans"/>
                <a:sym typeface="IBM Plex Sans"/>
              </a:rPr>
              <a:t>DeepSeek vs OpenAI</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 name="Shape 47"/>
        <p:cNvGrpSpPr/>
        <p:nvPr/>
      </p:nvGrpSpPr>
      <p:grpSpPr>
        <a:xfrm>
          <a:off x="0" y="0"/>
          <a:ext cx="0" cy="0"/>
          <a:chOff x="0" y="0"/>
          <a:chExt cx="0" cy="0"/>
        </a:xfrm>
      </p:grpSpPr>
      <p:pic>
        <p:nvPicPr>
          <p:cNvPr descr="preencoded.png" id="48" name="Google Shape;48;p5"/>
          <p:cNvPicPr preferRelativeResize="0"/>
          <p:nvPr/>
        </p:nvPicPr>
        <p:blipFill rotWithShape="1">
          <a:blip r:embed="rId3">
            <a:alphaModFix/>
          </a:blip>
          <a:srcRect b="0" l="0" r="0" t="0"/>
          <a:stretch/>
        </p:blipFill>
        <p:spPr>
          <a:xfrm>
            <a:off x="0" y="0"/>
            <a:ext cx="16256000" cy="9144000"/>
          </a:xfrm>
          <a:prstGeom prst="rect">
            <a:avLst/>
          </a:prstGeom>
          <a:noFill/>
          <a:ln>
            <a:noFill/>
          </a:ln>
        </p:spPr>
      </p:pic>
      <p:sp>
        <p:nvSpPr>
          <p:cNvPr id="49" name="Google Shape;49;p5"/>
          <p:cNvSpPr/>
          <p:nvPr/>
        </p:nvSpPr>
        <p:spPr>
          <a:xfrm>
            <a:off x="1016000" y="990600"/>
            <a:ext cx="88900" cy="660400"/>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5"/>
          <p:cNvSpPr/>
          <p:nvPr/>
        </p:nvSpPr>
        <p:spPr>
          <a:xfrm>
            <a:off x="1333500" y="939800"/>
            <a:ext cx="13843000" cy="825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4400"/>
              <a:buFont typeface="Inter"/>
              <a:buNone/>
            </a:pPr>
            <a:r>
              <a:rPr b="1" i="0" lang="en-US" sz="4400" u="none" cap="none" strike="noStrike">
                <a:solidFill>
                  <a:srgbClr val="FFFFFF"/>
                </a:solidFill>
                <a:latin typeface="IBM Plex Sans"/>
                <a:ea typeface="IBM Plex Sans"/>
                <a:cs typeface="IBM Plex Sans"/>
                <a:sym typeface="IBM Plex Sans"/>
              </a:rPr>
              <a:t>How DeepSeek Reduced Training Costs</a:t>
            </a:r>
            <a:endParaRPr b="1" i="0" sz="4400" u="none" cap="none" strike="noStrike">
              <a:solidFill>
                <a:schemeClr val="dk1"/>
              </a:solidFill>
              <a:latin typeface="IBM Plex Sans"/>
              <a:ea typeface="IBM Plex Sans"/>
              <a:cs typeface="IBM Plex Sans"/>
              <a:sym typeface="IBM Plex Sans"/>
            </a:endParaRPr>
          </a:p>
        </p:txBody>
      </p:sp>
      <p:sp>
        <p:nvSpPr>
          <p:cNvPr id="51" name="Google Shape;51;p5"/>
          <p:cNvSpPr/>
          <p:nvPr/>
        </p:nvSpPr>
        <p:spPr>
          <a:xfrm>
            <a:off x="1016000" y="2209800"/>
            <a:ext cx="13462000" cy="95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6D00"/>
              </a:buClr>
              <a:buSzPts val="5400"/>
              <a:buFont typeface="Inter"/>
              <a:buNone/>
            </a:pPr>
            <a:r>
              <a:rPr b="1" lang="en-US" sz="5400">
                <a:solidFill>
                  <a:srgbClr val="FF6D00"/>
                </a:solidFill>
                <a:latin typeface="IBM Plex Sans"/>
                <a:ea typeface="IBM Plex Sans"/>
                <a:cs typeface="IBM Plex Sans"/>
                <a:sym typeface="IBM Plex Sans"/>
              </a:rPr>
              <a:t>$5.6 MILLION US DOLLARS</a:t>
            </a:r>
            <a:endParaRPr sz="5400">
              <a:solidFill>
                <a:srgbClr val="FF6D00"/>
              </a:solidFill>
              <a:latin typeface="Calibri"/>
              <a:ea typeface="Calibri"/>
              <a:cs typeface="Calibri"/>
              <a:sym typeface="Calibri"/>
            </a:endParaRPr>
          </a:p>
          <a:p>
            <a:pPr indent="0" lvl="0" marL="0" marR="0" rtl="0" algn="l">
              <a:spcBef>
                <a:spcPts val="0"/>
              </a:spcBef>
              <a:spcAft>
                <a:spcPts val="0"/>
              </a:spcAft>
              <a:buClr>
                <a:srgbClr val="FF6D00"/>
              </a:buClr>
              <a:buSzPts val="5400"/>
              <a:buFont typeface="Inter"/>
              <a:buNone/>
            </a:pPr>
            <a:r>
              <a:t/>
            </a:r>
            <a:endParaRPr sz="5400">
              <a:solidFill>
                <a:srgbClr val="FF6D00"/>
              </a:solidFill>
              <a:latin typeface="Inter"/>
              <a:ea typeface="Inter"/>
              <a:cs typeface="Inter"/>
              <a:sym typeface="Inter"/>
            </a:endParaRPr>
          </a:p>
        </p:txBody>
      </p:sp>
      <p:sp>
        <p:nvSpPr>
          <p:cNvPr id="52" name="Google Shape;52;p5"/>
          <p:cNvSpPr/>
          <p:nvPr/>
        </p:nvSpPr>
        <p:spPr>
          <a:xfrm>
            <a:off x="1016000" y="3238500"/>
            <a:ext cx="13716000" cy="533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500"/>
              <a:buFont typeface="Inter"/>
              <a:buNone/>
            </a:pPr>
            <a:r>
              <a:rPr b="0" i="0" lang="en-US" sz="2500" u="none" cap="none" strike="noStrike">
                <a:solidFill>
                  <a:srgbClr val="FFFFFF"/>
                </a:solidFill>
                <a:latin typeface="Inter"/>
                <a:ea typeface="Inter"/>
                <a:cs typeface="Inter"/>
                <a:sym typeface="Inter"/>
              </a:rPr>
              <a:t>Estimated H800 GPU cost for DeepSeek-V3’s official training run</a:t>
            </a:r>
            <a:endParaRPr b="0" i="0" sz="2500" u="none" cap="none" strike="noStrike">
              <a:solidFill>
                <a:schemeClr val="dk1"/>
              </a:solidFill>
              <a:latin typeface="Calibri"/>
              <a:ea typeface="Calibri"/>
              <a:cs typeface="Calibri"/>
              <a:sym typeface="Calibri"/>
            </a:endParaRPr>
          </a:p>
        </p:txBody>
      </p:sp>
      <p:cxnSp>
        <p:nvCxnSpPr>
          <p:cNvPr id="53" name="Google Shape;53;p5"/>
          <p:cNvCxnSpPr/>
          <p:nvPr/>
        </p:nvCxnSpPr>
        <p:spPr>
          <a:xfrm>
            <a:off x="1016000" y="4127500"/>
            <a:ext cx="14097000" cy="9144"/>
          </a:xfrm>
          <a:prstGeom prst="straightConnector1">
            <a:avLst/>
          </a:prstGeom>
          <a:noFill/>
          <a:ln cap="flat" cmpd="sng" w="12700">
            <a:solidFill>
              <a:srgbClr val="6B7280"/>
            </a:solidFill>
            <a:prstDash val="solid"/>
            <a:round/>
            <a:headEnd len="sm" w="sm" type="none"/>
            <a:tailEnd len="sm" w="sm" type="none"/>
          </a:ln>
        </p:spPr>
      </p:cxnSp>
      <p:sp>
        <p:nvSpPr>
          <p:cNvPr id="54" name="Google Shape;54;p5"/>
          <p:cNvSpPr/>
          <p:nvPr/>
        </p:nvSpPr>
        <p:spPr>
          <a:xfrm>
            <a:off x="1016000" y="4572000"/>
            <a:ext cx="13716000" cy="23876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00E5FF"/>
              </a:buClr>
              <a:buSzPts val="2500"/>
              <a:buFont typeface="Inter"/>
              <a:buNone/>
            </a:pPr>
            <a:r>
              <a:rPr b="0" i="0" lang="en-US" sz="2500" u="none" cap="none" strike="noStrike">
                <a:solidFill>
                  <a:srgbClr val="00E5FF"/>
                </a:solidFill>
                <a:latin typeface="Inter"/>
                <a:ea typeface="Inter"/>
                <a:cs typeface="Inter"/>
                <a:sym typeface="Inter"/>
              </a:rPr>
              <a:t>➔</a:t>
            </a:r>
            <a:r>
              <a:rPr b="0" i="0" lang="en-US" sz="2500" u="none" cap="none" strike="noStrike">
                <a:solidFill>
                  <a:srgbClr val="CBD5E1"/>
                </a:solidFill>
                <a:latin typeface="Inter"/>
                <a:ea typeface="Inter"/>
                <a:cs typeface="Inter"/>
                <a:sym typeface="Inter"/>
              </a:rPr>
              <a:t> This is a reported computing-cost estimate, not DeepSeek’s total R&amp;D spending.</a:t>
            </a:r>
            <a:endParaRPr b="0" i="0" sz="2500" u="none" cap="none" strike="noStrike">
              <a:solidFill>
                <a:schemeClr val="dk1"/>
              </a:solidFill>
              <a:latin typeface="Calibri"/>
              <a:ea typeface="Calibri"/>
              <a:cs typeface="Calibri"/>
              <a:sym typeface="Calibri"/>
            </a:endParaRPr>
          </a:p>
          <a:p>
            <a:pPr indent="0" lvl="0" marL="0" marR="0" rtl="0" algn="l">
              <a:lnSpc>
                <a:spcPct val="135000"/>
              </a:lnSpc>
              <a:spcBef>
                <a:spcPts val="1600"/>
              </a:spcBef>
              <a:spcAft>
                <a:spcPts val="0"/>
              </a:spcAft>
              <a:buClr>
                <a:srgbClr val="00E5FF"/>
              </a:buClr>
              <a:buSzPts val="2500"/>
              <a:buFont typeface="Inter"/>
              <a:buNone/>
            </a:pPr>
            <a:r>
              <a:rPr b="0" i="0" lang="en-US" sz="2500" u="none" cap="none" strike="noStrike">
                <a:solidFill>
                  <a:srgbClr val="00E5FF"/>
                </a:solidFill>
                <a:latin typeface="Inter"/>
                <a:ea typeface="Inter"/>
                <a:cs typeface="Inter"/>
                <a:sym typeface="Inter"/>
              </a:rPr>
              <a:t>➔</a:t>
            </a:r>
            <a:r>
              <a:rPr b="0" i="0" lang="en-US" sz="2500" u="none" cap="none" strike="noStrike">
                <a:solidFill>
                  <a:srgbClr val="CBD5E1"/>
                </a:solidFill>
                <a:latin typeface="Inter"/>
                <a:ea typeface="Inter"/>
                <a:cs typeface="Inter"/>
                <a:sym typeface="Inter"/>
              </a:rPr>
              <a:t> It demonstrated how efficient AI architectures can reduce computational requirements.</a:t>
            </a:r>
            <a:endParaRPr b="0" i="0" sz="2500" u="none" cap="none" strike="noStrike">
              <a:solidFill>
                <a:schemeClr val="dk1"/>
              </a:solidFill>
              <a:latin typeface="Calibri"/>
              <a:ea typeface="Calibri"/>
              <a:cs typeface="Calibri"/>
              <a:sym typeface="Calibri"/>
            </a:endParaRPr>
          </a:p>
        </p:txBody>
      </p:sp>
      <p:sp>
        <p:nvSpPr>
          <p:cNvPr id="55" name="Google Shape;55;p5"/>
          <p:cNvSpPr/>
          <p:nvPr/>
        </p:nvSpPr>
        <p:spPr>
          <a:xfrm>
            <a:off x="1016000" y="8089900"/>
            <a:ext cx="11430000"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94A3B8"/>
              </a:buClr>
              <a:buSzPts val="1400"/>
              <a:buFont typeface="Inter"/>
              <a:buNone/>
            </a:pPr>
            <a:r>
              <a:rPr b="0" i="0" lang="en-US" sz="1400" u="none" cap="none" strike="noStrike">
                <a:solidFill>
                  <a:srgbClr val="94A3B8"/>
                </a:solidFill>
                <a:latin typeface="Inter"/>
                <a:ea typeface="Inter"/>
                <a:cs typeface="Inter"/>
                <a:sym typeface="Inter"/>
              </a:rPr>
              <a:t>Source: DeepSeek-V3 Technical Report (2024)</a:t>
            </a:r>
            <a:endParaRPr b="0" i="0" sz="1400" u="none" cap="none" strike="noStrike">
              <a:solidFill>
                <a:schemeClr val="dk1"/>
              </a:solidFill>
              <a:latin typeface="Calibri"/>
              <a:ea typeface="Calibri"/>
              <a:cs typeface="Calibri"/>
              <a:sym typeface="Calibri"/>
            </a:endParaRPr>
          </a:p>
        </p:txBody>
      </p:sp>
      <p:cxnSp>
        <p:nvCxnSpPr>
          <p:cNvPr id="56" name="Google Shape;56;p5"/>
          <p:cNvCxnSpPr/>
          <p:nvPr/>
        </p:nvCxnSpPr>
        <p:spPr>
          <a:xfrm>
            <a:off x="1016000" y="8559800"/>
            <a:ext cx="14097000" cy="9144"/>
          </a:xfrm>
          <a:prstGeom prst="straightConnector1">
            <a:avLst/>
          </a:prstGeom>
          <a:noFill/>
          <a:ln cap="flat" cmpd="sng" w="12700">
            <a:solidFill>
              <a:srgbClr val="D1D5DB"/>
            </a:solidFill>
            <a:prstDash val="solid"/>
            <a:round/>
            <a:headEnd len="sm" w="sm" type="none"/>
            <a:tailEnd len="sm" w="sm" type="none"/>
          </a:ln>
        </p:spPr>
      </p:cxnSp>
      <p:sp>
        <p:nvSpPr>
          <p:cNvPr id="57" name="Google Shape;57;p5"/>
          <p:cNvSpPr/>
          <p:nvPr/>
        </p:nvSpPr>
        <p:spPr>
          <a:xfrm>
            <a:off x="1016000" y="8712200"/>
            <a:ext cx="3810000" cy="279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BD5E1"/>
              </a:buClr>
              <a:buSzPts val="1600"/>
              <a:buFont typeface="Inter"/>
              <a:buNone/>
            </a:pPr>
            <a:r>
              <a:rPr i="0" lang="en-US" sz="1600" u="none" cap="none" strike="noStrike">
                <a:solidFill>
                  <a:srgbClr val="CBD5E1"/>
                </a:solidFill>
                <a:latin typeface="IBM Plex Sans Medium"/>
                <a:ea typeface="IBM Plex Sans Medium"/>
                <a:cs typeface="IBM Plex Sans Medium"/>
                <a:sym typeface="IBM Plex Sans Medium"/>
              </a:rPr>
              <a:t>DeepSeek vs OpenAI</a:t>
            </a:r>
            <a:endParaRPr i="0" sz="1600" u="none" cap="none" strike="noStrike">
              <a:solidFill>
                <a:schemeClr val="dk1"/>
              </a:solidFill>
              <a:latin typeface="IBM Plex Sans Medium"/>
              <a:ea typeface="IBM Plex Sans Medium"/>
              <a:cs typeface="IBM Plex Sans Medium"/>
              <a:sym typeface="IBM Plex Sans Medium"/>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pic>
        <p:nvPicPr>
          <p:cNvPr id="63" name="Google Shape;63;p6" title="watermarked_img_2298386314135546038.jpg"/>
          <p:cNvPicPr preferRelativeResize="0"/>
          <p:nvPr/>
        </p:nvPicPr>
        <p:blipFill rotWithShape="1">
          <a:blip r:embed="rId3">
            <a:alphaModFix/>
          </a:blip>
          <a:srcRect b="10" l="5040" r="-5040" t="10"/>
          <a:stretch/>
        </p:blipFill>
        <p:spPr>
          <a:xfrm>
            <a:off x="0" y="0"/>
            <a:ext cx="17171475" cy="9144000"/>
          </a:xfrm>
          <a:prstGeom prst="rect">
            <a:avLst/>
          </a:prstGeom>
          <a:noFill/>
          <a:ln>
            <a:noFill/>
          </a:ln>
        </p:spPr>
      </p:pic>
      <p:sp>
        <p:nvSpPr>
          <p:cNvPr id="64" name="Google Shape;64;p6"/>
          <p:cNvSpPr/>
          <p:nvPr/>
        </p:nvSpPr>
        <p:spPr>
          <a:xfrm>
            <a:off x="1016000" y="2184400"/>
            <a:ext cx="58420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BD5E1"/>
              </a:buClr>
              <a:buSzPts val="2400"/>
              <a:buFont typeface="Inter"/>
              <a:buNone/>
            </a:pPr>
            <a:r>
              <a:rPr b="0" i="0" lang="en-US" sz="2400" u="none" cap="none" strike="noStrike">
                <a:solidFill>
                  <a:srgbClr val="CBD5E1"/>
                </a:solidFill>
                <a:latin typeface="Inter"/>
                <a:ea typeface="Inter"/>
                <a:cs typeface="Inter"/>
                <a:sym typeface="Inter"/>
              </a:rPr>
              <a:t>January 27, 2025</a:t>
            </a:r>
            <a:endParaRPr b="0" i="0" sz="2400" u="none" cap="none" strike="noStrike">
              <a:solidFill>
                <a:schemeClr val="dk1"/>
              </a:solidFill>
              <a:latin typeface="Calibri"/>
              <a:ea typeface="Calibri"/>
              <a:cs typeface="Calibri"/>
              <a:sym typeface="Calibri"/>
            </a:endParaRPr>
          </a:p>
        </p:txBody>
      </p:sp>
      <p:sp>
        <p:nvSpPr>
          <p:cNvPr id="65" name="Google Shape;65;p6"/>
          <p:cNvSpPr/>
          <p:nvPr/>
        </p:nvSpPr>
        <p:spPr>
          <a:xfrm>
            <a:off x="1016000" y="2743200"/>
            <a:ext cx="13716000" cy="95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6D00"/>
              </a:buClr>
              <a:buSzPts val="5400"/>
              <a:buFont typeface="Inter"/>
              <a:buNone/>
            </a:pPr>
            <a:r>
              <a:rPr b="1" i="0" lang="en-US" sz="5400" u="none" cap="none" strike="noStrike">
                <a:solidFill>
                  <a:srgbClr val="FF6D00"/>
                </a:solidFill>
                <a:latin typeface="IBM Plex Sans"/>
                <a:ea typeface="IBM Plex Sans"/>
                <a:cs typeface="IBM Plex Sans"/>
                <a:sym typeface="IBM Plex Sans"/>
              </a:rPr>
              <a:t>US$593 BILLION LOST</a:t>
            </a:r>
            <a:endParaRPr b="1" i="0" sz="5400" u="none" cap="none" strike="noStrike">
              <a:solidFill>
                <a:schemeClr val="dk1"/>
              </a:solidFill>
              <a:latin typeface="IBM Plex Sans"/>
              <a:ea typeface="IBM Plex Sans"/>
              <a:cs typeface="IBM Plex Sans"/>
              <a:sym typeface="IBM Plex Sans"/>
            </a:endParaRPr>
          </a:p>
        </p:txBody>
      </p:sp>
      <p:sp>
        <p:nvSpPr>
          <p:cNvPr id="66" name="Google Shape;66;p6"/>
          <p:cNvSpPr/>
          <p:nvPr/>
        </p:nvSpPr>
        <p:spPr>
          <a:xfrm>
            <a:off x="1016000" y="3759200"/>
            <a:ext cx="13716000" cy="482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500"/>
              <a:buFont typeface="Inter"/>
              <a:buNone/>
            </a:pPr>
            <a:r>
              <a:rPr b="0" i="0" lang="en-US" sz="2500" u="none" cap="none" strike="noStrike">
                <a:solidFill>
                  <a:srgbClr val="FFFFFF"/>
                </a:solidFill>
                <a:latin typeface="Inter"/>
                <a:ea typeface="Inter"/>
                <a:cs typeface="Inter"/>
                <a:sym typeface="Inter"/>
              </a:rPr>
              <a:t>Nvidia’s market-value loss in one trading session</a:t>
            </a:r>
            <a:endParaRPr b="0" i="0" sz="2500" u="none" cap="none" strike="noStrike">
              <a:solidFill>
                <a:schemeClr val="dk1"/>
              </a:solidFill>
              <a:latin typeface="Calibri"/>
              <a:ea typeface="Calibri"/>
              <a:cs typeface="Calibri"/>
              <a:sym typeface="Calibri"/>
            </a:endParaRPr>
          </a:p>
        </p:txBody>
      </p:sp>
      <p:cxnSp>
        <p:nvCxnSpPr>
          <p:cNvPr id="67" name="Google Shape;67;p6"/>
          <p:cNvCxnSpPr/>
          <p:nvPr/>
        </p:nvCxnSpPr>
        <p:spPr>
          <a:xfrm>
            <a:off x="1016000" y="4610100"/>
            <a:ext cx="14097000" cy="9144"/>
          </a:xfrm>
          <a:prstGeom prst="straightConnector1">
            <a:avLst/>
          </a:prstGeom>
          <a:noFill/>
          <a:ln cap="flat" cmpd="sng" w="12700">
            <a:solidFill>
              <a:srgbClr val="6B7280"/>
            </a:solidFill>
            <a:prstDash val="solid"/>
            <a:round/>
            <a:headEnd len="sm" w="sm" type="none"/>
            <a:tailEnd len="sm" w="sm" type="none"/>
          </a:ln>
        </p:spPr>
      </p:cxnSp>
      <p:sp>
        <p:nvSpPr>
          <p:cNvPr id="68" name="Google Shape;68;p6"/>
          <p:cNvSpPr/>
          <p:nvPr/>
        </p:nvSpPr>
        <p:spPr>
          <a:xfrm>
            <a:off x="952500" y="5022850"/>
            <a:ext cx="13842900" cy="2286000"/>
          </a:xfrm>
          <a:prstGeom prst="rect">
            <a:avLst/>
          </a:prstGeom>
          <a:noFill/>
          <a:ln>
            <a:noFill/>
          </a:ln>
        </p:spPr>
        <p:txBody>
          <a:bodyPr anchorCtr="0" anchor="t" bIns="0" lIns="0" spcFirstLastPara="1" rIns="0" wrap="square" tIns="0">
            <a:noAutofit/>
          </a:bodyPr>
          <a:lstStyle/>
          <a:p>
            <a:pPr indent="0" lvl="0" marL="0" marR="0" rtl="0" algn="l">
              <a:lnSpc>
                <a:spcPct val="132000"/>
              </a:lnSpc>
              <a:spcBef>
                <a:spcPts val="0"/>
              </a:spcBef>
              <a:spcAft>
                <a:spcPts val="0"/>
              </a:spcAft>
              <a:buClr>
                <a:srgbClr val="00E5FF"/>
              </a:buClr>
              <a:buSzPts val="2500"/>
              <a:buFont typeface="Inter"/>
              <a:buNone/>
            </a:pPr>
            <a:r>
              <a:rPr b="0" i="0" lang="en-US" sz="2500" u="none" cap="none" strike="noStrike">
                <a:solidFill>
                  <a:srgbClr val="00E5FF"/>
                </a:solidFill>
                <a:latin typeface="Inter"/>
                <a:ea typeface="Inter"/>
                <a:cs typeface="Inter"/>
                <a:sym typeface="Inter"/>
              </a:rPr>
              <a:t>➔</a:t>
            </a:r>
            <a:r>
              <a:rPr b="0" i="0" lang="en-US" sz="2500" u="none" cap="none" strike="noStrike">
                <a:solidFill>
                  <a:srgbClr val="CBD5E1"/>
                </a:solidFill>
                <a:latin typeface="Inter"/>
                <a:ea typeface="Inter"/>
                <a:cs typeface="Inter"/>
                <a:sym typeface="Inter"/>
              </a:rPr>
              <a:t> Investors questioned whether AI progress would always demand massive hardware investments.</a:t>
            </a:r>
            <a:endParaRPr b="0" i="0" sz="2500" u="none" cap="none" strike="noStrike">
              <a:solidFill>
                <a:schemeClr val="dk1"/>
              </a:solidFill>
              <a:latin typeface="Calibri"/>
              <a:ea typeface="Calibri"/>
              <a:cs typeface="Calibri"/>
              <a:sym typeface="Calibri"/>
            </a:endParaRPr>
          </a:p>
          <a:p>
            <a:pPr indent="0" lvl="0" marL="0" marR="0" rtl="0" algn="l">
              <a:lnSpc>
                <a:spcPct val="132000"/>
              </a:lnSpc>
              <a:spcBef>
                <a:spcPts val="1400"/>
              </a:spcBef>
              <a:spcAft>
                <a:spcPts val="0"/>
              </a:spcAft>
              <a:buClr>
                <a:srgbClr val="00E5FF"/>
              </a:buClr>
              <a:buSzPts val="2500"/>
              <a:buFont typeface="Inter"/>
              <a:buNone/>
            </a:pPr>
            <a:r>
              <a:rPr b="0" i="0" lang="en-US" sz="2500" u="none" cap="none" strike="noStrike">
                <a:solidFill>
                  <a:srgbClr val="00E5FF"/>
                </a:solidFill>
                <a:latin typeface="Inter"/>
                <a:ea typeface="Inter"/>
                <a:cs typeface="Inter"/>
                <a:sym typeface="Inter"/>
              </a:rPr>
              <a:t>➔</a:t>
            </a:r>
            <a:r>
              <a:rPr b="0" i="0" lang="en-US" sz="2500" u="none" cap="none" strike="noStrike">
                <a:solidFill>
                  <a:srgbClr val="CBD5E1"/>
                </a:solidFill>
                <a:latin typeface="Inter"/>
                <a:ea typeface="Inter"/>
                <a:cs typeface="Inter"/>
                <a:sym typeface="Inter"/>
              </a:rPr>
              <a:t> The news broadened the debate about competition, innovation, and the economics of AI.</a:t>
            </a:r>
            <a:endParaRPr b="0" i="0" sz="2500" u="none" cap="none" strike="noStrike">
              <a:solidFill>
                <a:schemeClr val="dk1"/>
              </a:solidFill>
              <a:latin typeface="Calibri"/>
              <a:ea typeface="Calibri"/>
              <a:cs typeface="Calibri"/>
              <a:sym typeface="Calibri"/>
            </a:endParaRPr>
          </a:p>
        </p:txBody>
      </p:sp>
      <p:sp>
        <p:nvSpPr>
          <p:cNvPr id="69" name="Google Shape;69;p6"/>
          <p:cNvSpPr/>
          <p:nvPr/>
        </p:nvSpPr>
        <p:spPr>
          <a:xfrm>
            <a:off x="1016000" y="8089900"/>
            <a:ext cx="11430000"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94A3B8"/>
              </a:buClr>
              <a:buSzPts val="1400"/>
              <a:buFont typeface="Inter"/>
              <a:buNone/>
            </a:pPr>
            <a:r>
              <a:rPr b="0" i="0" lang="en-US" sz="1400" u="none" cap="none" strike="noStrike">
                <a:solidFill>
                  <a:srgbClr val="94A3B8"/>
                </a:solidFill>
                <a:latin typeface="Inter"/>
                <a:ea typeface="Inter"/>
                <a:cs typeface="Inter"/>
                <a:sym typeface="Inter"/>
              </a:rPr>
              <a:t>Source: Reuters, citing LSEG data (January 27, 2025)</a:t>
            </a:r>
            <a:endParaRPr b="0" i="0" sz="1400" u="none" cap="none" strike="noStrike">
              <a:solidFill>
                <a:schemeClr val="dk1"/>
              </a:solidFill>
              <a:latin typeface="Calibri"/>
              <a:ea typeface="Calibri"/>
              <a:cs typeface="Calibri"/>
              <a:sym typeface="Calibri"/>
            </a:endParaRPr>
          </a:p>
        </p:txBody>
      </p:sp>
      <p:cxnSp>
        <p:nvCxnSpPr>
          <p:cNvPr id="70" name="Google Shape;70;p6"/>
          <p:cNvCxnSpPr/>
          <p:nvPr/>
        </p:nvCxnSpPr>
        <p:spPr>
          <a:xfrm>
            <a:off x="1016000" y="8559800"/>
            <a:ext cx="14097000" cy="9144"/>
          </a:xfrm>
          <a:prstGeom prst="straightConnector1">
            <a:avLst/>
          </a:prstGeom>
          <a:noFill/>
          <a:ln cap="flat" cmpd="sng" w="12700">
            <a:solidFill>
              <a:srgbClr val="D1D5DB"/>
            </a:solidFill>
            <a:prstDash val="solid"/>
            <a:round/>
            <a:headEnd len="sm" w="sm" type="none"/>
            <a:tailEnd len="sm" w="sm" type="none"/>
          </a:ln>
        </p:spPr>
      </p:cxnSp>
      <p:sp>
        <p:nvSpPr>
          <p:cNvPr id="71" name="Google Shape;71;p6"/>
          <p:cNvSpPr/>
          <p:nvPr/>
        </p:nvSpPr>
        <p:spPr>
          <a:xfrm>
            <a:off x="1016000" y="8712200"/>
            <a:ext cx="3810000" cy="279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BD5E1"/>
              </a:buClr>
              <a:buSzPts val="1600"/>
              <a:buFont typeface="Inter"/>
              <a:buNone/>
            </a:pPr>
            <a:r>
              <a:rPr i="0" lang="en-US" sz="1600" u="none" cap="none" strike="noStrike">
                <a:solidFill>
                  <a:srgbClr val="CBD5E1"/>
                </a:solidFill>
                <a:latin typeface="IBM Plex Sans Medium"/>
                <a:ea typeface="IBM Plex Sans Medium"/>
                <a:cs typeface="IBM Plex Sans Medium"/>
                <a:sym typeface="IBM Plex Sans Medium"/>
              </a:rPr>
              <a:t>DeepSeek vs OpenAI</a:t>
            </a:r>
            <a:endParaRPr i="0" sz="1600" u="none" cap="none" strike="noStrike">
              <a:solidFill>
                <a:schemeClr val="dk1"/>
              </a:solidFill>
              <a:latin typeface="IBM Plex Sans Medium"/>
              <a:ea typeface="IBM Plex Sans Medium"/>
              <a:cs typeface="IBM Plex Sans Medium"/>
              <a:sym typeface="IBM Plex Sans Medium"/>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pic>
        <p:nvPicPr>
          <p:cNvPr descr="preencoded.png" id="77" name="Google Shape;77;p7"/>
          <p:cNvPicPr preferRelativeResize="0"/>
          <p:nvPr/>
        </p:nvPicPr>
        <p:blipFill rotWithShape="1">
          <a:blip r:embed="rId3">
            <a:alphaModFix/>
          </a:blip>
          <a:srcRect b="0" l="0" r="0" t="0"/>
          <a:stretch/>
        </p:blipFill>
        <p:spPr>
          <a:xfrm>
            <a:off x="0" y="0"/>
            <a:ext cx="16256000" cy="9144000"/>
          </a:xfrm>
          <a:prstGeom prst="rect">
            <a:avLst/>
          </a:prstGeom>
          <a:noFill/>
          <a:ln>
            <a:noFill/>
          </a:ln>
        </p:spPr>
      </p:pic>
      <p:sp>
        <p:nvSpPr>
          <p:cNvPr id="78" name="Google Shape;78;p7"/>
          <p:cNvSpPr/>
          <p:nvPr/>
        </p:nvSpPr>
        <p:spPr>
          <a:xfrm>
            <a:off x="1016000" y="889000"/>
            <a:ext cx="88900" cy="660400"/>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7"/>
          <p:cNvSpPr/>
          <p:nvPr/>
        </p:nvSpPr>
        <p:spPr>
          <a:xfrm>
            <a:off x="1333500" y="838200"/>
            <a:ext cx="13843000" cy="825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4400"/>
              <a:buFont typeface="Inter"/>
              <a:buNone/>
            </a:pPr>
            <a:r>
              <a:rPr b="1" i="0" lang="en-US" sz="4400" u="none" cap="none" strike="noStrike">
                <a:solidFill>
                  <a:srgbClr val="FFFFFF"/>
                </a:solidFill>
                <a:latin typeface="IBM Plex Sans"/>
                <a:ea typeface="IBM Plex Sans"/>
                <a:cs typeface="IBM Plex Sans"/>
                <a:sym typeface="IBM Plex Sans"/>
              </a:rPr>
              <a:t>Impact on Software Development</a:t>
            </a:r>
            <a:endParaRPr b="1" i="0" sz="4400" u="none" cap="none" strike="noStrike">
              <a:solidFill>
                <a:schemeClr val="dk1"/>
              </a:solidFill>
              <a:latin typeface="IBM Plex Sans"/>
              <a:ea typeface="IBM Plex Sans"/>
              <a:cs typeface="IBM Plex Sans"/>
              <a:sym typeface="IBM Plex Sans"/>
            </a:endParaRPr>
          </a:p>
        </p:txBody>
      </p:sp>
      <p:sp>
        <p:nvSpPr>
          <p:cNvPr id="80" name="Google Shape;80;p7"/>
          <p:cNvSpPr/>
          <p:nvPr/>
        </p:nvSpPr>
        <p:spPr>
          <a:xfrm>
            <a:off x="1016000" y="1917700"/>
            <a:ext cx="13614300" cy="825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6D00"/>
              </a:buClr>
              <a:buSzPts val="4800"/>
              <a:buFont typeface="Inter"/>
              <a:buNone/>
            </a:pPr>
            <a:r>
              <a:rPr b="1" i="0" lang="en-US" sz="4800" u="none" cap="none" strike="noStrike">
                <a:solidFill>
                  <a:srgbClr val="FF6D00"/>
                </a:solidFill>
                <a:latin typeface="IBM Plex Sans"/>
                <a:ea typeface="IBM Plex Sans"/>
                <a:cs typeface="IBM Plex Sans"/>
                <a:sym typeface="IBM Plex Sans"/>
              </a:rPr>
              <a:t>BUILD, CUSTOMIZE, EXPAND ACCESS</a:t>
            </a:r>
            <a:endParaRPr b="1" i="0" sz="4800" u="none" cap="none" strike="noStrike">
              <a:solidFill>
                <a:schemeClr val="dk1"/>
              </a:solidFill>
              <a:latin typeface="IBM Plex Sans"/>
              <a:ea typeface="IBM Plex Sans"/>
              <a:cs typeface="IBM Plex Sans"/>
              <a:sym typeface="IBM Plex Sans"/>
            </a:endParaRPr>
          </a:p>
        </p:txBody>
      </p:sp>
      <p:cxnSp>
        <p:nvCxnSpPr>
          <p:cNvPr id="81" name="Google Shape;81;p7"/>
          <p:cNvCxnSpPr/>
          <p:nvPr/>
        </p:nvCxnSpPr>
        <p:spPr>
          <a:xfrm>
            <a:off x="1016000" y="2997200"/>
            <a:ext cx="14097000" cy="9144"/>
          </a:xfrm>
          <a:prstGeom prst="straightConnector1">
            <a:avLst/>
          </a:prstGeom>
          <a:noFill/>
          <a:ln cap="flat" cmpd="sng" w="12700">
            <a:solidFill>
              <a:srgbClr val="6B7280"/>
            </a:solidFill>
            <a:prstDash val="solid"/>
            <a:round/>
            <a:headEnd len="sm" w="sm" type="none"/>
            <a:tailEnd len="sm" w="sm" type="none"/>
          </a:ln>
        </p:spPr>
      </p:cxnSp>
      <p:sp>
        <p:nvSpPr>
          <p:cNvPr id="82" name="Google Shape;82;p7"/>
          <p:cNvSpPr/>
          <p:nvPr/>
        </p:nvSpPr>
        <p:spPr>
          <a:xfrm>
            <a:off x="1016000" y="3365500"/>
            <a:ext cx="13970000" cy="4279900"/>
          </a:xfrm>
          <a:prstGeom prst="rect">
            <a:avLst/>
          </a:prstGeom>
          <a:noFill/>
          <a:ln>
            <a:noFill/>
          </a:ln>
        </p:spPr>
        <p:txBody>
          <a:bodyPr anchorCtr="0" anchor="t" bIns="0" lIns="0" spcFirstLastPara="1" rIns="0" wrap="square" tIns="0">
            <a:noAutofit/>
          </a:bodyPr>
          <a:lstStyle/>
          <a:p>
            <a:pPr indent="0" lvl="0" marL="0" marR="0" rtl="0" algn="l">
              <a:lnSpc>
                <a:spcPct val="126000"/>
              </a:lnSpc>
              <a:spcBef>
                <a:spcPts val="0"/>
              </a:spcBef>
              <a:spcAft>
                <a:spcPts val="0"/>
              </a:spcAft>
              <a:buClr>
                <a:srgbClr val="00E5FF"/>
              </a:buClr>
              <a:buSzPts val="2400"/>
              <a:buFont typeface="Inter"/>
              <a:buNone/>
            </a:pPr>
            <a:r>
              <a:rPr b="0" i="0" lang="en-US" sz="2400" u="none" cap="none" strike="noStrike">
                <a:solidFill>
                  <a:srgbClr val="00E5FF"/>
                </a:solidFill>
                <a:latin typeface="Inter"/>
                <a:ea typeface="Inter"/>
                <a:cs typeface="Inter"/>
                <a:sym typeface="Inter"/>
              </a:rPr>
              <a:t>➔</a:t>
            </a:r>
            <a:r>
              <a:rPr b="0" i="0" lang="en-US" sz="2400" u="none" cap="none" strike="noStrike">
                <a:solidFill>
                  <a:srgbClr val="CBD5E1"/>
                </a:solidFill>
                <a:latin typeface="Inter"/>
                <a:ea typeface="Inter"/>
                <a:cs typeface="Inter"/>
                <a:sym typeface="Inter"/>
              </a:rPr>
              <a:t> Open-weight models give developers more flexibility to build and customize AI-powered applications.</a:t>
            </a:r>
            <a:endParaRPr b="0" i="0" sz="2400" u="none" cap="none" strike="noStrike">
              <a:solidFill>
                <a:schemeClr val="dk1"/>
              </a:solidFill>
              <a:latin typeface="Calibri"/>
              <a:ea typeface="Calibri"/>
              <a:cs typeface="Calibri"/>
              <a:sym typeface="Calibri"/>
            </a:endParaRPr>
          </a:p>
          <a:p>
            <a:pPr indent="0" lvl="0" marL="0" marR="0" rtl="0" algn="l">
              <a:lnSpc>
                <a:spcPct val="126000"/>
              </a:lnSpc>
              <a:spcBef>
                <a:spcPts val="1300"/>
              </a:spcBef>
              <a:spcAft>
                <a:spcPts val="0"/>
              </a:spcAft>
              <a:buClr>
                <a:srgbClr val="00E5FF"/>
              </a:buClr>
              <a:buSzPts val="2400"/>
              <a:buFont typeface="Inter"/>
              <a:buNone/>
            </a:pPr>
            <a:r>
              <a:rPr b="0" i="0" lang="en-US" sz="2400" u="none" cap="none" strike="noStrike">
                <a:solidFill>
                  <a:srgbClr val="00E5FF"/>
                </a:solidFill>
                <a:latin typeface="Inter"/>
                <a:ea typeface="Inter"/>
                <a:cs typeface="Inter"/>
                <a:sym typeface="Inter"/>
              </a:rPr>
              <a:t>➔</a:t>
            </a:r>
            <a:r>
              <a:rPr b="0" i="0" lang="en-US" sz="2400" u="none" cap="none" strike="noStrike">
                <a:solidFill>
                  <a:srgbClr val="CBD5E1"/>
                </a:solidFill>
                <a:latin typeface="Inter"/>
                <a:ea typeface="Inter"/>
                <a:cs typeface="Inter"/>
                <a:sym typeface="Inter"/>
              </a:rPr>
              <a:t> Efficient models can make advanced AI more accessible to smaller companies, independent developers, and students.</a:t>
            </a:r>
            <a:endParaRPr b="0" i="0" sz="2400" u="none" cap="none" strike="noStrike">
              <a:solidFill>
                <a:schemeClr val="dk1"/>
              </a:solidFill>
              <a:latin typeface="Calibri"/>
              <a:ea typeface="Calibri"/>
              <a:cs typeface="Calibri"/>
              <a:sym typeface="Calibri"/>
            </a:endParaRPr>
          </a:p>
          <a:p>
            <a:pPr indent="0" lvl="0" marL="0" marR="0" rtl="0" algn="l">
              <a:lnSpc>
                <a:spcPct val="126000"/>
              </a:lnSpc>
              <a:spcBef>
                <a:spcPts val="1300"/>
              </a:spcBef>
              <a:spcAft>
                <a:spcPts val="0"/>
              </a:spcAft>
              <a:buClr>
                <a:srgbClr val="00E5FF"/>
              </a:buClr>
              <a:buSzPts val="2400"/>
              <a:buFont typeface="Inter"/>
              <a:buNone/>
            </a:pPr>
            <a:r>
              <a:rPr b="0" i="0" lang="en-US" sz="2400" u="none" cap="none" strike="noStrike">
                <a:solidFill>
                  <a:srgbClr val="00E5FF"/>
                </a:solidFill>
                <a:latin typeface="Inter"/>
                <a:ea typeface="Inter"/>
                <a:cs typeface="Inter"/>
                <a:sym typeface="Inter"/>
              </a:rPr>
              <a:t>➔</a:t>
            </a:r>
            <a:r>
              <a:rPr b="0" i="0" lang="en-US" sz="2400" u="none" cap="none" strike="noStrike">
                <a:solidFill>
                  <a:srgbClr val="CBD5E1"/>
                </a:solidFill>
                <a:latin typeface="Inter"/>
                <a:ea typeface="Inter"/>
                <a:cs typeface="Inter"/>
                <a:sym typeface="Inter"/>
              </a:rPr>
              <a:t> Useful examples include coding assistants, automated workflows, and intelligent applications.</a:t>
            </a:r>
            <a:endParaRPr b="0" i="0" sz="2400" u="none" cap="none" strike="noStrike">
              <a:solidFill>
                <a:schemeClr val="dk1"/>
              </a:solidFill>
              <a:latin typeface="Calibri"/>
              <a:ea typeface="Calibri"/>
              <a:cs typeface="Calibri"/>
              <a:sym typeface="Calibri"/>
            </a:endParaRPr>
          </a:p>
          <a:p>
            <a:pPr indent="0" lvl="0" marL="0" marR="0" rtl="0" algn="l">
              <a:lnSpc>
                <a:spcPct val="126000"/>
              </a:lnSpc>
              <a:spcBef>
                <a:spcPts val="1300"/>
              </a:spcBef>
              <a:spcAft>
                <a:spcPts val="0"/>
              </a:spcAft>
              <a:buClr>
                <a:srgbClr val="00E5FF"/>
              </a:buClr>
              <a:buSzPts val="2400"/>
              <a:buFont typeface="Inter"/>
              <a:buNone/>
            </a:pPr>
            <a:r>
              <a:rPr b="0" i="0" lang="en-US" sz="2400" u="none" cap="none" strike="noStrike">
                <a:solidFill>
                  <a:srgbClr val="00E5FF"/>
                </a:solidFill>
                <a:latin typeface="Inter"/>
                <a:ea typeface="Inter"/>
                <a:cs typeface="Inter"/>
                <a:sym typeface="Inter"/>
              </a:rPr>
              <a:t>➔</a:t>
            </a:r>
            <a:r>
              <a:rPr b="0" i="0" lang="en-US" sz="2400" u="none" cap="none" strike="noStrike">
                <a:solidFill>
                  <a:srgbClr val="CBD5E1"/>
                </a:solidFill>
                <a:latin typeface="Inter"/>
                <a:ea typeface="Inter"/>
                <a:cs typeface="Inter"/>
                <a:sym typeface="Inter"/>
              </a:rPr>
              <a:t> Privacy, security, and the accuracy of AI-generated results still require careful review.</a:t>
            </a:r>
            <a:endParaRPr b="0" i="0" sz="2400" u="none" cap="none" strike="noStrike">
              <a:solidFill>
                <a:schemeClr val="dk1"/>
              </a:solidFill>
              <a:latin typeface="Calibri"/>
              <a:ea typeface="Calibri"/>
              <a:cs typeface="Calibri"/>
              <a:sym typeface="Calibri"/>
            </a:endParaRPr>
          </a:p>
        </p:txBody>
      </p:sp>
      <p:cxnSp>
        <p:nvCxnSpPr>
          <p:cNvPr id="83" name="Google Shape;83;p7"/>
          <p:cNvCxnSpPr/>
          <p:nvPr/>
        </p:nvCxnSpPr>
        <p:spPr>
          <a:xfrm>
            <a:off x="1016000" y="8559800"/>
            <a:ext cx="14097000" cy="9144"/>
          </a:xfrm>
          <a:prstGeom prst="straightConnector1">
            <a:avLst/>
          </a:prstGeom>
          <a:noFill/>
          <a:ln cap="flat" cmpd="sng" w="12700">
            <a:solidFill>
              <a:srgbClr val="D1D5DB"/>
            </a:solidFill>
            <a:prstDash val="solid"/>
            <a:round/>
            <a:headEnd len="sm" w="sm" type="none"/>
            <a:tailEnd len="sm" w="sm" type="none"/>
          </a:ln>
        </p:spPr>
      </p:cxnSp>
      <p:sp>
        <p:nvSpPr>
          <p:cNvPr id="84" name="Google Shape;84;p7"/>
          <p:cNvSpPr/>
          <p:nvPr/>
        </p:nvSpPr>
        <p:spPr>
          <a:xfrm>
            <a:off x="1016000" y="8712200"/>
            <a:ext cx="3810000" cy="279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BD5E1"/>
              </a:buClr>
              <a:buSzPts val="1600"/>
              <a:buFont typeface="Inter"/>
              <a:buNone/>
            </a:pPr>
            <a:r>
              <a:rPr i="0" lang="en-US" sz="1600" u="none" cap="none" strike="noStrike">
                <a:solidFill>
                  <a:srgbClr val="CBD5E1"/>
                </a:solidFill>
                <a:latin typeface="IBM Plex Sans Medium"/>
                <a:ea typeface="IBM Plex Sans Medium"/>
                <a:cs typeface="IBM Plex Sans Medium"/>
                <a:sym typeface="IBM Plex Sans Medium"/>
              </a:rPr>
              <a:t>DeepSeek vs OpenAI</a:t>
            </a:r>
            <a:endParaRPr i="0" sz="1600" u="none" cap="none" strike="noStrike">
              <a:solidFill>
                <a:schemeClr val="dk1"/>
              </a:solidFill>
              <a:latin typeface="IBM Plex Sans Medium"/>
              <a:ea typeface="IBM Plex Sans Medium"/>
              <a:cs typeface="IBM Plex Sans Medium"/>
              <a:sym typeface="IBM Plex Sans Medium"/>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pic>
        <p:nvPicPr>
          <p:cNvPr descr="preencoded.png" id="90" name="Google Shape;90;p8"/>
          <p:cNvPicPr preferRelativeResize="0"/>
          <p:nvPr/>
        </p:nvPicPr>
        <p:blipFill rotWithShape="1">
          <a:blip r:embed="rId3">
            <a:alphaModFix/>
          </a:blip>
          <a:srcRect b="0" l="0" r="0" t="0"/>
          <a:stretch/>
        </p:blipFill>
        <p:spPr>
          <a:xfrm>
            <a:off x="0" y="0"/>
            <a:ext cx="16256000" cy="9144000"/>
          </a:xfrm>
          <a:prstGeom prst="rect">
            <a:avLst/>
          </a:prstGeom>
          <a:noFill/>
          <a:ln>
            <a:noFill/>
          </a:ln>
        </p:spPr>
      </p:pic>
      <p:sp>
        <p:nvSpPr>
          <p:cNvPr id="91" name="Google Shape;91;p8"/>
          <p:cNvSpPr/>
          <p:nvPr/>
        </p:nvSpPr>
        <p:spPr>
          <a:xfrm>
            <a:off x="1270000" y="1016000"/>
            <a:ext cx="13716000" cy="723900"/>
          </a:xfrm>
          <a:prstGeom prst="rect">
            <a:avLst/>
          </a:prstGeom>
          <a:noFill/>
          <a:ln>
            <a:noFill/>
          </a:ln>
        </p:spPr>
        <p:txBody>
          <a:bodyPr anchorCtr="0" anchor="t" bIns="0" lIns="362800" spcFirstLastPara="1" rIns="0" wrap="square" tIns="0">
            <a:noAutofit/>
          </a:bodyPr>
          <a:lstStyle/>
          <a:p>
            <a:pPr indent="0" lvl="0" marL="0" marR="0" rtl="0" algn="l">
              <a:spcBef>
                <a:spcPts val="0"/>
              </a:spcBef>
              <a:spcAft>
                <a:spcPts val="0"/>
              </a:spcAft>
              <a:buClr>
                <a:srgbClr val="FFFFFF"/>
              </a:buClr>
              <a:buSzPts val="4000"/>
              <a:buFont typeface="IBM Plex Sans"/>
              <a:buNone/>
            </a:pPr>
            <a:r>
              <a:rPr b="1" i="0" lang="en-US" sz="4000" u="none" cap="none" strike="noStrike">
                <a:solidFill>
                  <a:srgbClr val="FFFFFF"/>
                </a:solidFill>
                <a:latin typeface="IBM Plex Sans"/>
                <a:ea typeface="IBM Plex Sans"/>
                <a:cs typeface="IBM Plex Sans"/>
                <a:sym typeface="IBM Plex Sans"/>
              </a:rPr>
              <a:t>Conclusion</a:t>
            </a:r>
            <a:endParaRPr b="0" i="0" sz="4000" u="none" cap="none" strike="noStrike">
              <a:solidFill>
                <a:schemeClr val="dk1"/>
              </a:solidFill>
              <a:latin typeface="Calibri"/>
              <a:ea typeface="Calibri"/>
              <a:cs typeface="Calibri"/>
              <a:sym typeface="Calibri"/>
            </a:endParaRPr>
          </a:p>
        </p:txBody>
      </p:sp>
      <p:sp>
        <p:nvSpPr>
          <p:cNvPr id="92" name="Google Shape;92;p8"/>
          <p:cNvSpPr/>
          <p:nvPr/>
        </p:nvSpPr>
        <p:spPr>
          <a:xfrm>
            <a:off x="1270000" y="2374900"/>
            <a:ext cx="13716000" cy="1117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6B35"/>
              </a:buClr>
              <a:buSzPts val="6200"/>
              <a:buFont typeface="IBM Plex Sans"/>
              <a:buNone/>
            </a:pPr>
            <a:r>
              <a:rPr b="1" i="0" lang="en-US" sz="6200" u="none" cap="none" strike="noStrike">
                <a:solidFill>
                  <a:srgbClr val="FF6B35"/>
                </a:solidFill>
                <a:latin typeface="IBM Plex Sans"/>
                <a:ea typeface="IBM Plex Sans"/>
                <a:cs typeface="IBM Plex Sans"/>
                <a:sym typeface="IBM Plex Sans"/>
              </a:rPr>
              <a:t>SMARTER, NOT JUST BIGGER</a:t>
            </a:r>
            <a:endParaRPr b="0" i="0" sz="6200" u="none" cap="none" strike="noStrike">
              <a:solidFill>
                <a:schemeClr val="dk1"/>
              </a:solidFill>
              <a:latin typeface="Calibri"/>
              <a:ea typeface="Calibri"/>
              <a:cs typeface="Calibri"/>
              <a:sym typeface="Calibri"/>
            </a:endParaRPr>
          </a:p>
        </p:txBody>
      </p:sp>
      <p:sp>
        <p:nvSpPr>
          <p:cNvPr id="93" name="Google Shape;93;p8"/>
          <p:cNvSpPr/>
          <p:nvPr/>
        </p:nvSpPr>
        <p:spPr>
          <a:xfrm>
            <a:off x="1270000" y="3695700"/>
            <a:ext cx="13716000" cy="42545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300"/>
              <a:buFont typeface="IBM Plex Sans"/>
              <a:buNone/>
            </a:pPr>
            <a:r>
              <a:rPr b="1" i="0" lang="en-US" sz="2300" u="none" cap="none" strike="noStrike">
                <a:solidFill>
                  <a:srgbClr val="FFFFFF"/>
                </a:solidFill>
                <a:latin typeface="IBM Plex Sans"/>
                <a:ea typeface="IBM Plex Sans"/>
                <a:cs typeface="IBM Plex Sans"/>
                <a:sym typeface="IBM Plex Sans"/>
              </a:rPr>
              <a:t>A new way to think about AI innovation</a:t>
            </a:r>
            <a:endParaRPr b="0" i="0" sz="2300" u="none" cap="none" strike="noStrike">
              <a:solidFill>
                <a:schemeClr val="dk1"/>
              </a:solidFill>
              <a:latin typeface="Calibri"/>
              <a:ea typeface="Calibri"/>
              <a:cs typeface="Calibri"/>
              <a:sym typeface="Calibri"/>
            </a:endParaRPr>
          </a:p>
        </p:txBody>
      </p:sp>
      <p:sp>
        <p:nvSpPr>
          <p:cNvPr id="94" name="Google Shape;94;p8"/>
          <p:cNvSpPr/>
          <p:nvPr/>
        </p:nvSpPr>
        <p:spPr>
          <a:xfrm>
            <a:off x="1270000" y="4578350"/>
            <a:ext cx="13716000" cy="480020"/>
          </a:xfrm>
          <a:prstGeom prst="rect">
            <a:avLst/>
          </a:prstGeom>
          <a:noFill/>
          <a:ln>
            <a:noFill/>
          </a:ln>
        </p:spPr>
        <p:txBody>
          <a:bodyPr anchorCtr="0" anchor="t" bIns="0" lIns="423325" spcFirstLastPara="1" rIns="0" wrap="square" tIns="0">
            <a:noAutofit/>
          </a:bodyPr>
          <a:lstStyle/>
          <a:p>
            <a:pPr indent="0" lvl="0" marL="0" marR="0" rtl="0" algn="l">
              <a:lnSpc>
                <a:spcPct val="112000"/>
              </a:lnSpc>
              <a:spcBef>
                <a:spcPts val="0"/>
              </a:spcBef>
              <a:spcAft>
                <a:spcPts val="0"/>
              </a:spcAft>
              <a:buClr>
                <a:srgbClr val="E2E8F0"/>
              </a:buClr>
              <a:buSzPts val="2600"/>
              <a:buFont typeface="IBM Plex Sans"/>
              <a:buNone/>
            </a:pPr>
            <a:r>
              <a:rPr b="0" i="0" lang="en-US" sz="2600" u="none" cap="none" strike="noStrike">
                <a:solidFill>
                  <a:srgbClr val="E2E8F0"/>
                </a:solidFill>
                <a:latin typeface="IBM Plex Sans"/>
                <a:ea typeface="IBM Plex Sans"/>
                <a:cs typeface="IBM Plex Sans"/>
                <a:sym typeface="IBM Plex Sans"/>
              </a:rPr>
              <a:t>Advanced AI can benefit from efficient architectures.</a:t>
            </a:r>
            <a:endParaRPr b="0" i="0" sz="2600" u="none" cap="none" strike="noStrike">
              <a:solidFill>
                <a:schemeClr val="dk1"/>
              </a:solidFill>
              <a:latin typeface="Calibri"/>
              <a:ea typeface="Calibri"/>
              <a:cs typeface="Calibri"/>
              <a:sym typeface="Calibri"/>
            </a:endParaRPr>
          </a:p>
        </p:txBody>
      </p:sp>
      <p:sp>
        <p:nvSpPr>
          <p:cNvPr id="95" name="Google Shape;95;p8"/>
          <p:cNvSpPr/>
          <p:nvPr/>
        </p:nvSpPr>
        <p:spPr>
          <a:xfrm>
            <a:off x="1270000" y="5337771"/>
            <a:ext cx="13716000" cy="480020"/>
          </a:xfrm>
          <a:prstGeom prst="rect">
            <a:avLst/>
          </a:prstGeom>
          <a:noFill/>
          <a:ln>
            <a:noFill/>
          </a:ln>
        </p:spPr>
        <p:txBody>
          <a:bodyPr anchorCtr="0" anchor="t" bIns="0" lIns="423325" spcFirstLastPara="1" rIns="0" wrap="square" tIns="0">
            <a:noAutofit/>
          </a:bodyPr>
          <a:lstStyle/>
          <a:p>
            <a:pPr indent="0" lvl="0" marL="0" marR="0" rtl="0" algn="l">
              <a:lnSpc>
                <a:spcPct val="112000"/>
              </a:lnSpc>
              <a:spcBef>
                <a:spcPts val="0"/>
              </a:spcBef>
              <a:spcAft>
                <a:spcPts val="0"/>
              </a:spcAft>
              <a:buClr>
                <a:srgbClr val="E2E8F0"/>
              </a:buClr>
              <a:buSzPts val="2600"/>
              <a:buFont typeface="IBM Plex Sans"/>
              <a:buNone/>
            </a:pPr>
            <a:r>
              <a:rPr b="0" i="0" lang="en-US" sz="2600" u="none" cap="none" strike="noStrike">
                <a:solidFill>
                  <a:srgbClr val="E2E8F0"/>
                </a:solidFill>
                <a:latin typeface="IBM Plex Sans"/>
                <a:ea typeface="IBM Plex Sans"/>
                <a:cs typeface="IBM Plex Sans"/>
                <a:sym typeface="IBM Plex Sans"/>
              </a:rPr>
              <a:t>Training innovation can expand access to useful tools.</a:t>
            </a:r>
            <a:endParaRPr b="0" i="0" sz="2600" u="none" cap="none" strike="noStrike">
              <a:solidFill>
                <a:schemeClr val="dk1"/>
              </a:solidFill>
              <a:latin typeface="Calibri"/>
              <a:ea typeface="Calibri"/>
              <a:cs typeface="Calibri"/>
              <a:sym typeface="Calibri"/>
            </a:endParaRPr>
          </a:p>
        </p:txBody>
      </p:sp>
      <p:sp>
        <p:nvSpPr>
          <p:cNvPr id="96" name="Google Shape;96;p8"/>
          <p:cNvSpPr/>
          <p:nvPr/>
        </p:nvSpPr>
        <p:spPr>
          <a:xfrm>
            <a:off x="1270000" y="6097191"/>
            <a:ext cx="13716000" cy="480020"/>
          </a:xfrm>
          <a:prstGeom prst="rect">
            <a:avLst/>
          </a:prstGeom>
          <a:noFill/>
          <a:ln>
            <a:noFill/>
          </a:ln>
        </p:spPr>
        <p:txBody>
          <a:bodyPr anchorCtr="0" anchor="t" bIns="0" lIns="423325" spcFirstLastPara="1" rIns="0" wrap="square" tIns="0">
            <a:noAutofit/>
          </a:bodyPr>
          <a:lstStyle/>
          <a:p>
            <a:pPr indent="0" lvl="0" marL="0" marR="0" rtl="0" algn="l">
              <a:lnSpc>
                <a:spcPct val="112000"/>
              </a:lnSpc>
              <a:spcBef>
                <a:spcPts val="0"/>
              </a:spcBef>
              <a:spcAft>
                <a:spcPts val="0"/>
              </a:spcAft>
              <a:buClr>
                <a:srgbClr val="E2E8F0"/>
              </a:buClr>
              <a:buSzPts val="2600"/>
              <a:buFont typeface="IBM Plex Sans"/>
              <a:buNone/>
            </a:pPr>
            <a:r>
              <a:rPr b="0" i="0" lang="en-US" sz="2600" u="none" cap="none" strike="noStrike">
                <a:solidFill>
                  <a:srgbClr val="E2E8F0"/>
                </a:solidFill>
                <a:latin typeface="IBM Plex Sans"/>
                <a:ea typeface="IBM Plex Sans"/>
                <a:cs typeface="IBM Plex Sans"/>
                <a:sym typeface="IBM Plex Sans"/>
              </a:rPr>
              <a:t>Progress means solving hard problems more thoughtfully.</a:t>
            </a:r>
            <a:endParaRPr b="0" i="0" sz="2600" u="none" cap="none" strike="noStrike">
              <a:solidFill>
                <a:schemeClr val="dk1"/>
              </a:solidFill>
              <a:latin typeface="Calibri"/>
              <a:ea typeface="Calibri"/>
              <a:cs typeface="Calibri"/>
              <a:sym typeface="Calibri"/>
            </a:endParaRPr>
          </a:p>
        </p:txBody>
      </p:sp>
      <p:sp>
        <p:nvSpPr>
          <p:cNvPr id="97" name="Google Shape;97;p8"/>
          <p:cNvSpPr/>
          <p:nvPr/>
        </p:nvSpPr>
        <p:spPr>
          <a:xfrm>
            <a:off x="1270000" y="7734300"/>
            <a:ext cx="13716000" cy="393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E5FF"/>
              </a:buClr>
              <a:buSzPts val="2100"/>
              <a:buFont typeface="IBM Plex Sans"/>
              <a:buNone/>
            </a:pPr>
            <a:r>
              <a:rPr b="1" i="0" lang="en-US" sz="2100" u="none" cap="none" strike="noStrike">
                <a:solidFill>
                  <a:srgbClr val="00E5FF"/>
                </a:solidFill>
                <a:latin typeface="IBM Plex Sans"/>
                <a:ea typeface="IBM Plex Sans"/>
                <a:cs typeface="IBM Plex Sans"/>
                <a:sym typeface="IBM Plex Sans"/>
              </a:rPr>
              <a:t>Thank you for watching.</a:t>
            </a:r>
            <a:endParaRPr b="0" i="0" sz="2100" u="none" cap="none" strike="noStrike">
              <a:solidFill>
                <a:schemeClr val="dk1"/>
              </a:solidFill>
              <a:latin typeface="Calibri"/>
              <a:ea typeface="Calibri"/>
              <a:cs typeface="Calibri"/>
              <a:sym typeface="Calibri"/>
            </a:endParaRPr>
          </a:p>
        </p:txBody>
      </p:sp>
      <p:sp>
        <p:nvSpPr>
          <p:cNvPr id="98" name="Google Shape;98;p8"/>
          <p:cNvSpPr/>
          <p:nvPr/>
        </p:nvSpPr>
        <p:spPr>
          <a:xfrm>
            <a:off x="1270000" y="8128000"/>
            <a:ext cx="13716000" cy="508000"/>
          </a:xfrm>
          <a:prstGeom prst="rect">
            <a:avLst/>
          </a:prstGeom>
          <a:solidFill>
            <a:srgbClr val="000000">
              <a:alpha val="0"/>
            </a:srgbClr>
          </a:solidFill>
          <a:ln>
            <a:noFill/>
          </a:ln>
        </p:spPr>
        <p:txBody>
          <a:bodyPr anchorCtr="0" anchor="ctr" bIns="162525" lIns="162525" spcFirstLastPara="1" rIns="162525" wrap="square" tIns="162525">
            <a:noAutofit/>
          </a:bodyPr>
          <a:lstStyle/>
          <a:p>
            <a:pPr indent="0" lvl="0" marL="0" rtl="0" algn="l">
              <a:spcBef>
                <a:spcPts val="0"/>
              </a:spcBef>
              <a:spcAft>
                <a:spcPts val="0"/>
              </a:spcAft>
              <a:buNone/>
            </a:pPr>
            <a:r>
              <a:t/>
            </a:r>
            <a:endParaRPr/>
          </a:p>
        </p:txBody>
      </p:sp>
      <p:sp>
        <p:nvSpPr>
          <p:cNvPr id="99" name="Google Shape;99;p8"/>
          <p:cNvSpPr/>
          <p:nvPr/>
        </p:nvSpPr>
        <p:spPr>
          <a:xfrm>
            <a:off x="1270000" y="8128000"/>
            <a:ext cx="13716000" cy="12700"/>
          </a:xfrm>
          <a:prstGeom prst="rect">
            <a:avLst/>
          </a:prstGeom>
          <a:solidFill>
            <a:srgbClr val="FFFFFF"/>
          </a:solidFill>
          <a:ln>
            <a:noFill/>
          </a:ln>
        </p:spPr>
        <p:txBody>
          <a:bodyPr anchorCtr="0" anchor="ctr" bIns="162525" lIns="162525" spcFirstLastPara="1" rIns="162525" wrap="square" tIns="162525">
            <a:noAutofit/>
          </a:bodyPr>
          <a:lstStyle/>
          <a:p>
            <a:pPr indent="0" lvl="0" marL="0" rtl="0" algn="l">
              <a:spcBef>
                <a:spcPts val="0"/>
              </a:spcBef>
              <a:spcAft>
                <a:spcPts val="0"/>
              </a:spcAft>
              <a:buNone/>
            </a:pPr>
            <a:r>
              <a:t/>
            </a:r>
            <a:endParaRPr/>
          </a:p>
        </p:txBody>
      </p:sp>
      <p:sp>
        <p:nvSpPr>
          <p:cNvPr id="100" name="Google Shape;100;p8"/>
          <p:cNvSpPr/>
          <p:nvPr/>
        </p:nvSpPr>
        <p:spPr>
          <a:xfrm>
            <a:off x="1270000" y="4578350"/>
            <a:ext cx="342900" cy="4800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00E5FF"/>
              </a:buClr>
              <a:buSzPts val="2400"/>
              <a:buFont typeface="IBM Plex Sans"/>
              <a:buNone/>
            </a:pPr>
            <a:r>
              <a:rPr b="1" i="0" lang="en-US" sz="2400" u="none" cap="none" strike="noStrike">
                <a:solidFill>
                  <a:srgbClr val="00E5FF"/>
                </a:solidFill>
                <a:latin typeface="IBM Plex Sans"/>
                <a:ea typeface="IBM Plex Sans"/>
                <a:cs typeface="IBM Plex Sans"/>
                <a:sym typeface="IBM Plex Sans"/>
              </a:rPr>
              <a:t>→</a:t>
            </a:r>
            <a:endParaRPr b="0" i="0" sz="2400" u="none" cap="none" strike="noStrike">
              <a:solidFill>
                <a:schemeClr val="dk1"/>
              </a:solidFill>
              <a:latin typeface="Calibri"/>
              <a:ea typeface="Calibri"/>
              <a:cs typeface="Calibri"/>
              <a:sym typeface="Calibri"/>
            </a:endParaRPr>
          </a:p>
        </p:txBody>
      </p:sp>
      <p:sp>
        <p:nvSpPr>
          <p:cNvPr id="101" name="Google Shape;101;p8"/>
          <p:cNvSpPr/>
          <p:nvPr/>
        </p:nvSpPr>
        <p:spPr>
          <a:xfrm>
            <a:off x="1270000" y="5337771"/>
            <a:ext cx="342900" cy="4800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00E5FF"/>
              </a:buClr>
              <a:buSzPts val="2400"/>
              <a:buFont typeface="IBM Plex Sans"/>
              <a:buNone/>
            </a:pPr>
            <a:r>
              <a:rPr b="1" i="0" lang="en-US" sz="2400" u="none" cap="none" strike="noStrike">
                <a:solidFill>
                  <a:srgbClr val="00E5FF"/>
                </a:solidFill>
                <a:latin typeface="IBM Plex Sans"/>
                <a:ea typeface="IBM Plex Sans"/>
                <a:cs typeface="IBM Plex Sans"/>
                <a:sym typeface="IBM Plex Sans"/>
              </a:rPr>
              <a:t>→</a:t>
            </a:r>
            <a:endParaRPr b="0" i="0" sz="2400" u="none" cap="none" strike="noStrike">
              <a:solidFill>
                <a:schemeClr val="dk1"/>
              </a:solidFill>
              <a:latin typeface="Calibri"/>
              <a:ea typeface="Calibri"/>
              <a:cs typeface="Calibri"/>
              <a:sym typeface="Calibri"/>
            </a:endParaRPr>
          </a:p>
        </p:txBody>
      </p:sp>
      <p:sp>
        <p:nvSpPr>
          <p:cNvPr id="102" name="Google Shape;102;p8"/>
          <p:cNvSpPr/>
          <p:nvPr/>
        </p:nvSpPr>
        <p:spPr>
          <a:xfrm>
            <a:off x="1270000" y="6097191"/>
            <a:ext cx="342900" cy="4800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00E5FF"/>
              </a:buClr>
              <a:buSzPts val="2400"/>
              <a:buFont typeface="IBM Plex Sans"/>
              <a:buNone/>
            </a:pPr>
            <a:r>
              <a:rPr b="1" i="0" lang="en-US" sz="2400" u="none" cap="none" strike="noStrike">
                <a:solidFill>
                  <a:srgbClr val="00E5FF"/>
                </a:solidFill>
                <a:latin typeface="IBM Plex Sans"/>
                <a:ea typeface="IBM Plex Sans"/>
                <a:cs typeface="IBM Plex Sans"/>
                <a:sym typeface="IBM Plex Sans"/>
              </a:rPr>
              <a:t>→</a:t>
            </a:r>
            <a:endParaRPr b="0" i="0" sz="2400" u="none" cap="none" strike="noStrike">
              <a:solidFill>
                <a:schemeClr val="dk1"/>
              </a:solidFill>
              <a:latin typeface="Calibri"/>
              <a:ea typeface="Calibri"/>
              <a:cs typeface="Calibri"/>
              <a:sym typeface="Calibri"/>
            </a:endParaRPr>
          </a:p>
        </p:txBody>
      </p:sp>
      <p:sp>
        <p:nvSpPr>
          <p:cNvPr id="103" name="Google Shape;103;p8"/>
          <p:cNvSpPr/>
          <p:nvPr/>
        </p:nvSpPr>
        <p:spPr>
          <a:xfrm>
            <a:off x="1270000" y="8369300"/>
            <a:ext cx="2000251"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94A3B8"/>
              </a:buClr>
              <a:buSzPts val="1400"/>
              <a:buFont typeface="IBM Plex Sans"/>
              <a:buNone/>
            </a:pPr>
            <a:r>
              <a:rPr b="1" i="0" lang="en-US" sz="1400" u="none" cap="none" strike="noStrike">
                <a:solidFill>
                  <a:srgbClr val="94A3B8"/>
                </a:solidFill>
                <a:latin typeface="IBM Plex Sans"/>
                <a:ea typeface="IBM Plex Sans"/>
                <a:cs typeface="IBM Plex Sans"/>
                <a:sym typeface="IBM Plex Sans"/>
              </a:rPr>
              <a:t>DeepSeek vs OpenAI</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