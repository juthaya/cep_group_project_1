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seconds] In January 2025, Chinese AI company DeepSeek attracted worldwide attention with DeepSeek-R1, a reasoning model released with openly available weights. Its strong results and emphasis on efficiency challenged assumptions about how expensive advanced AI development needs to be. Today we explain the technology, costs, market reaction, and impact on software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DeepSeek-V3 is a general-purpose large language model built with a Mixture-of-Experts architecture. Although it has 671 billion total parameters, only about 37 billion are activated per token, helping improve computational efficiency. DeepSeek-R1 builds on this foundation and focuses on reasoning. Its training uses reinforcement learning to improve tasks involving multi-step logic, mathematics, and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seconds] One widely discussed number was approximately 5.6 million US dollars. DeepSeek-V3’s technical report estimated about 2.788 million H800 GPU-hours for its final pretraining run, priced at two dollars per GPU-hour. Crucially, this is not the total cost of DeepSeek’s research, hardware, earlier experiments, or DeepSeek-R1. Even with that limitation, the report highlighted how architecture and engineering optimizations can reduce training compute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seconds] The release triggered a major reassessment of AI investment expectations. On January 27, 2025, Nvidia shares fell sharply, wiping out approximately 593 billion dollars in market capitalization in one trading session. This did not prove demand for AI chips would disappear. Instead, it showed investors were questioning whether increasingly capable models could be developed with less compute than previously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For software developers, DeepSeek’s release broadened the conversation about access to powerful AI. Openly available model weights allow teams to experiment, adapt systems, and potentially deploy models in their own environments. Efficient models may reduce some barriers to building AI-assisted tools. But developers still need to evaluate reliability, data privacy, security, infrastructure requirements, and the terms of each model’s license before production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seconds] DeepSeek’s breakthrough was not simply one new chatbot. It demonstrated the importance of efficient architectures, reasoning-focused training, and broader access to AI models. The full economic picture is more complex than a single training-cost figure, but the lasting lesson is clear: software innovation can come from using computing resources more intelligently, not only from spending more.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JANUARY 2025 · AI INDUSTRY</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DeepSeek: The AI Breakthrough</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01 / 06</a:t>
            </a:r>
            <a:endParaRPr lang="en-US" sz="1000" dirty="0"/>
          </a:p>
        </p:txBody>
      </p:sp>
      <p:sp>
        <p:nvSpPr>
          <p:cNvPr id="8" name="Text 6"/>
          <p:cNvSpPr/>
          <p:nvPr/>
        </p:nvSpPr>
        <p:spPr>
          <a:xfrm>
            <a:off x="658368" y="1700784"/>
            <a:ext cx="6766560" cy="1207008"/>
          </a:xfrm>
          <a:prstGeom prst="rect">
            <a:avLst/>
          </a:prstGeom>
          <a:noFill/>
          <a:ln/>
        </p:spPr>
        <p:txBody>
          <a:bodyPr wrap="square" lIns="0" tIns="0" rIns="0" bIns="0" rtlCol="0" anchor="ctr"/>
          <a:lstStyle/>
          <a:p>
            <a:pPr indent="0" marL="0">
              <a:buNone/>
            </a:pPr>
            <a:r>
              <a:rPr lang="en-US" sz="2600" b="1" dirty="0">
                <a:solidFill>
                  <a:srgbClr val="F4F8FF"/>
                </a:solidFill>
                <a:latin typeface="Aptos" pitchFamily="34" charset="0"/>
                <a:ea typeface="Aptos" pitchFamily="34" charset="-122"/>
                <a:cs typeface="Aptos" pitchFamily="34" charset="-120"/>
              </a:rPr>
              <a:t>How a new reasoning model challenged assumptions about the cost of advanced AI.</a:t>
            </a:r>
            <a:endParaRPr lang="en-US" sz="2600" dirty="0"/>
          </a:p>
        </p:txBody>
      </p:sp>
      <p:sp>
        <p:nvSpPr>
          <p:cNvPr id="9" name="Shape 7"/>
          <p:cNvSpPr/>
          <p:nvPr/>
        </p:nvSpPr>
        <p:spPr>
          <a:xfrm>
            <a:off x="676656" y="3931920"/>
            <a:ext cx="2423160" cy="429768"/>
          </a:xfrm>
          <a:prstGeom prst="roundRect">
            <a:avLst>
              <a:gd name="adj" fmla="val 21277"/>
            </a:avLst>
          </a:prstGeom>
          <a:solidFill>
            <a:srgbClr val="142238"/>
          </a:solidFill>
          <a:ln w="7620">
            <a:solidFill>
              <a:srgbClr val="142238"/>
            </a:solidFill>
            <a:prstDash val="solid"/>
          </a:ln>
        </p:spPr>
      </p:sp>
      <p:sp>
        <p:nvSpPr>
          <p:cNvPr id="10" name="Text 8"/>
          <p:cNvSpPr/>
          <p:nvPr/>
        </p:nvSpPr>
        <p:spPr>
          <a:xfrm>
            <a:off x="795528" y="4023360"/>
            <a:ext cx="2194560" cy="219456"/>
          </a:xfrm>
          <a:prstGeom prst="rect">
            <a:avLst/>
          </a:prstGeom>
          <a:noFill/>
          <a:ln/>
        </p:spPr>
        <p:txBody>
          <a:bodyPr wrap="square" lIns="0" tIns="0" rIns="0" bIns="0" rtlCol="0" anchor="ctr"/>
          <a:lstStyle/>
          <a:p>
            <a:pPr indent="0" marL="0">
              <a:buNone/>
            </a:pPr>
            <a:r>
              <a:rPr lang="en-US" sz="1200" b="1" dirty="0">
                <a:solidFill>
                  <a:srgbClr val="F4F8FF"/>
                </a:solidFill>
                <a:latin typeface="Aptos" pitchFamily="34" charset="0"/>
                <a:ea typeface="Aptos" pitchFamily="34" charset="-122"/>
                <a:cs typeface="Aptos" pitchFamily="34" charset="-120"/>
              </a:rPr>
              <a:t>OPEN-WEIGHT MODELS</a:t>
            </a:r>
            <a:endParaRPr lang="en-US" sz="1200" dirty="0"/>
          </a:p>
        </p:txBody>
      </p:sp>
      <p:sp>
        <p:nvSpPr>
          <p:cNvPr id="11" name="Shape 9"/>
          <p:cNvSpPr/>
          <p:nvPr/>
        </p:nvSpPr>
        <p:spPr>
          <a:xfrm>
            <a:off x="3264408" y="3931920"/>
            <a:ext cx="1645920" cy="429768"/>
          </a:xfrm>
          <a:prstGeom prst="roundRect">
            <a:avLst>
              <a:gd name="adj" fmla="val 21277"/>
            </a:avLst>
          </a:prstGeom>
          <a:solidFill>
            <a:srgbClr val="142238"/>
          </a:solidFill>
          <a:ln w="7620">
            <a:solidFill>
              <a:srgbClr val="142238"/>
            </a:solidFill>
            <a:prstDash val="solid"/>
          </a:ln>
        </p:spPr>
      </p:sp>
      <p:sp>
        <p:nvSpPr>
          <p:cNvPr id="12" name="Text 10"/>
          <p:cNvSpPr/>
          <p:nvPr/>
        </p:nvSpPr>
        <p:spPr>
          <a:xfrm>
            <a:off x="3383280" y="4023360"/>
            <a:ext cx="1417320" cy="219456"/>
          </a:xfrm>
          <a:prstGeom prst="rect">
            <a:avLst/>
          </a:prstGeom>
          <a:noFill/>
          <a:ln/>
        </p:spPr>
        <p:txBody>
          <a:bodyPr wrap="square" lIns="0" tIns="0" rIns="0" bIns="0" rtlCol="0" anchor="ctr"/>
          <a:lstStyle/>
          <a:p>
            <a:pPr indent="0" marL="0">
              <a:buNone/>
            </a:pPr>
            <a:r>
              <a:rPr lang="en-US" sz="1200" b="1" dirty="0">
                <a:solidFill>
                  <a:srgbClr val="F4F8FF"/>
                </a:solidFill>
                <a:latin typeface="Aptos" pitchFamily="34" charset="0"/>
                <a:ea typeface="Aptos" pitchFamily="34" charset="-122"/>
                <a:cs typeface="Aptos" pitchFamily="34" charset="-120"/>
              </a:rPr>
              <a:t>EFFICIENCY</a:t>
            </a:r>
            <a:endParaRPr lang="en-US" sz="1200" dirty="0"/>
          </a:p>
        </p:txBody>
      </p:sp>
      <p:sp>
        <p:nvSpPr>
          <p:cNvPr id="13" name="Shape 11"/>
          <p:cNvSpPr/>
          <p:nvPr/>
        </p:nvSpPr>
        <p:spPr>
          <a:xfrm>
            <a:off x="5084064" y="3931920"/>
            <a:ext cx="2029968" cy="429768"/>
          </a:xfrm>
          <a:prstGeom prst="roundRect">
            <a:avLst>
              <a:gd name="adj" fmla="val 21277"/>
            </a:avLst>
          </a:prstGeom>
          <a:solidFill>
            <a:srgbClr val="142238"/>
          </a:solidFill>
          <a:ln w="7620">
            <a:solidFill>
              <a:srgbClr val="142238"/>
            </a:solidFill>
            <a:prstDash val="solid"/>
          </a:ln>
        </p:spPr>
      </p:sp>
      <p:sp>
        <p:nvSpPr>
          <p:cNvPr id="14" name="Text 12"/>
          <p:cNvSpPr/>
          <p:nvPr/>
        </p:nvSpPr>
        <p:spPr>
          <a:xfrm>
            <a:off x="5202936" y="4023360"/>
            <a:ext cx="1801368" cy="219456"/>
          </a:xfrm>
          <a:prstGeom prst="rect">
            <a:avLst/>
          </a:prstGeom>
          <a:noFill/>
          <a:ln/>
        </p:spPr>
        <p:txBody>
          <a:bodyPr wrap="square" lIns="0" tIns="0" rIns="0" bIns="0" rtlCol="0" anchor="ctr"/>
          <a:lstStyle/>
          <a:p>
            <a:pPr indent="0" marL="0">
              <a:buNone/>
            </a:pPr>
            <a:r>
              <a:rPr lang="en-US" sz="1200" b="1" dirty="0">
                <a:solidFill>
                  <a:srgbClr val="F4F8FF"/>
                </a:solidFill>
                <a:latin typeface="Aptos" pitchFamily="34" charset="0"/>
                <a:ea typeface="Aptos" pitchFamily="34" charset="-122"/>
                <a:cs typeface="Aptos" pitchFamily="34" charset="-120"/>
              </a:rPr>
              <a:t>GLOBAL IMPACT</a:t>
            </a:r>
            <a:endParaRPr lang="en-US" sz="1200" dirty="0"/>
          </a:p>
        </p:txBody>
      </p:sp>
      <p:sp>
        <p:nvSpPr>
          <p:cNvPr id="15" name="Shape 13"/>
          <p:cNvSpPr/>
          <p:nvPr/>
        </p:nvSpPr>
        <p:spPr>
          <a:xfrm>
            <a:off x="8257032" y="1673352"/>
            <a:ext cx="3090672" cy="3355848"/>
          </a:xfrm>
          <a:prstGeom prst="roundRect">
            <a:avLst>
              <a:gd name="adj" fmla="val 4734"/>
            </a:avLst>
          </a:prstGeom>
          <a:solidFill>
            <a:srgbClr val="102A43"/>
          </a:solidFill>
          <a:ln w="7620">
            <a:solidFill>
              <a:srgbClr val="2D405B"/>
            </a:solidFill>
            <a:prstDash val="solid"/>
          </a:ln>
        </p:spPr>
      </p:sp>
      <p:sp>
        <p:nvSpPr>
          <p:cNvPr id="16" name="Text 14"/>
          <p:cNvSpPr/>
          <p:nvPr/>
        </p:nvSpPr>
        <p:spPr>
          <a:xfrm>
            <a:off x="8558784" y="2093976"/>
            <a:ext cx="2423160" cy="1371600"/>
          </a:xfrm>
          <a:prstGeom prst="rect">
            <a:avLst/>
          </a:prstGeom>
          <a:noFill/>
          <a:ln/>
        </p:spPr>
        <p:txBody>
          <a:bodyPr wrap="square" lIns="0" tIns="0" rIns="0" bIns="0" rtlCol="0" anchor="ctr"/>
          <a:lstStyle/>
          <a:p>
            <a:pPr algn="ctr" indent="0" marL="0">
              <a:buNone/>
            </a:pPr>
            <a:r>
              <a:rPr lang="en-US" sz="9200" b="1" dirty="0">
                <a:solidFill>
                  <a:srgbClr val="55C7F5"/>
                </a:solidFill>
                <a:latin typeface="Aptos" pitchFamily="34" charset="0"/>
                <a:ea typeface="Aptos" pitchFamily="34" charset="-122"/>
                <a:cs typeface="Aptos" pitchFamily="34" charset="-120"/>
              </a:rPr>
              <a:t>R1</a:t>
            </a:r>
            <a:endParaRPr lang="en-US" sz="9200" dirty="0"/>
          </a:p>
        </p:txBody>
      </p:sp>
      <p:sp>
        <p:nvSpPr>
          <p:cNvPr id="17" name="Text 15"/>
          <p:cNvSpPr/>
          <p:nvPr/>
        </p:nvSpPr>
        <p:spPr>
          <a:xfrm>
            <a:off x="8622792" y="3657600"/>
            <a:ext cx="2322576" cy="365760"/>
          </a:xfrm>
          <a:prstGeom prst="rect">
            <a:avLst/>
          </a:prstGeom>
          <a:noFill/>
          <a:ln/>
        </p:spPr>
        <p:txBody>
          <a:bodyPr wrap="square" lIns="0" tIns="0" rIns="0" bIns="0" rtlCol="0" anchor="ctr"/>
          <a:lstStyle/>
          <a:p>
            <a:pPr algn="ctr" indent="0" marL="0">
              <a:buNone/>
            </a:pPr>
            <a:r>
              <a:rPr lang="en-US" sz="1400" b="1" spc="100" kern="0" dirty="0">
                <a:solidFill>
                  <a:srgbClr val="53E0C0"/>
                </a:solidFill>
                <a:latin typeface="Aptos" pitchFamily="34" charset="0"/>
                <a:ea typeface="Aptos" pitchFamily="34" charset="-122"/>
                <a:cs typeface="Aptos" pitchFamily="34" charset="-120"/>
              </a:rPr>
              <a:t>REASONING MODEL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THE TECHNOLOGY</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Two models, different strengths</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02 / 06</a:t>
            </a:r>
            <a:endParaRPr lang="en-US" sz="1000" dirty="0"/>
          </a:p>
        </p:txBody>
      </p:sp>
      <p:sp>
        <p:nvSpPr>
          <p:cNvPr id="8" name="Shape 6"/>
          <p:cNvSpPr/>
          <p:nvPr/>
        </p:nvSpPr>
        <p:spPr>
          <a:xfrm>
            <a:off x="658368" y="1691640"/>
            <a:ext cx="5257800" cy="3566160"/>
          </a:xfrm>
          <a:prstGeom prst="roundRect">
            <a:avLst>
              <a:gd name="adj" fmla="val 4103"/>
            </a:avLst>
          </a:prstGeom>
          <a:solidFill>
            <a:srgbClr val="142238"/>
          </a:solidFill>
          <a:ln w="7620">
            <a:solidFill>
              <a:srgbClr val="2D405B"/>
            </a:solidFill>
            <a:prstDash val="solid"/>
          </a:ln>
        </p:spPr>
      </p:sp>
      <p:sp>
        <p:nvSpPr>
          <p:cNvPr id="9" name="Shape 7"/>
          <p:cNvSpPr/>
          <p:nvPr/>
        </p:nvSpPr>
        <p:spPr>
          <a:xfrm>
            <a:off x="6254496" y="1691640"/>
            <a:ext cx="5257800" cy="3566160"/>
          </a:xfrm>
          <a:prstGeom prst="roundRect">
            <a:avLst>
              <a:gd name="adj" fmla="val 4103"/>
            </a:avLst>
          </a:prstGeom>
          <a:solidFill>
            <a:srgbClr val="142238"/>
          </a:solidFill>
          <a:ln w="7620">
            <a:solidFill>
              <a:srgbClr val="2D405B"/>
            </a:solidFill>
            <a:prstDash val="solid"/>
          </a:ln>
        </p:spPr>
      </p:sp>
      <p:sp>
        <p:nvSpPr>
          <p:cNvPr id="10" name="Text 8"/>
          <p:cNvSpPr/>
          <p:nvPr/>
        </p:nvSpPr>
        <p:spPr>
          <a:xfrm>
            <a:off x="969264" y="1956816"/>
            <a:ext cx="4572000" cy="438912"/>
          </a:xfrm>
          <a:prstGeom prst="rect">
            <a:avLst/>
          </a:prstGeom>
          <a:noFill/>
          <a:ln/>
        </p:spPr>
        <p:txBody>
          <a:bodyPr wrap="square" lIns="0" tIns="0" rIns="0" bIns="0" rtlCol="0" anchor="ctr"/>
          <a:lstStyle/>
          <a:p>
            <a:pPr indent="0" marL="0">
              <a:buNone/>
            </a:pPr>
            <a:r>
              <a:rPr lang="en-US" sz="2700" b="1" dirty="0">
                <a:solidFill>
                  <a:srgbClr val="55C7F5"/>
                </a:solidFill>
                <a:latin typeface="Aptos" pitchFamily="34" charset="0"/>
                <a:ea typeface="Aptos" pitchFamily="34" charset="-122"/>
                <a:cs typeface="Aptos" pitchFamily="34" charset="-120"/>
              </a:rPr>
              <a:t>DeepSeek-V3</a:t>
            </a:r>
            <a:endParaRPr lang="en-US" sz="2700" dirty="0"/>
          </a:p>
        </p:txBody>
      </p:sp>
      <p:sp>
        <p:nvSpPr>
          <p:cNvPr id="11" name="Text 9"/>
          <p:cNvSpPr/>
          <p:nvPr/>
        </p:nvSpPr>
        <p:spPr>
          <a:xfrm>
            <a:off x="969264" y="2596896"/>
            <a:ext cx="4663440" cy="548640"/>
          </a:xfrm>
          <a:prstGeom prst="rect">
            <a:avLst/>
          </a:prstGeom>
          <a:noFill/>
          <a:ln/>
        </p:spPr>
        <p:txBody>
          <a:bodyPr wrap="square" lIns="0" tIns="0" rIns="0" bIns="0" rtlCol="0" anchor="ctr"/>
          <a:lstStyle/>
          <a:p>
            <a:pPr indent="0" marL="0">
              <a:buNone/>
            </a:pPr>
            <a:r>
              <a:rPr lang="en-US" sz="1800" b="1" dirty="0">
                <a:solidFill>
                  <a:srgbClr val="F4F8FF"/>
                </a:solidFill>
                <a:latin typeface="Aptos" pitchFamily="34" charset="0"/>
                <a:ea typeface="Aptos" pitchFamily="34" charset="-122"/>
                <a:cs typeface="Aptos" pitchFamily="34" charset="-120"/>
              </a:rPr>
              <a:t>General-purpose foundation model</a:t>
            </a:r>
            <a:endParaRPr lang="en-US" sz="1800" dirty="0"/>
          </a:p>
        </p:txBody>
      </p:sp>
      <p:sp>
        <p:nvSpPr>
          <p:cNvPr id="12" name="Text 10"/>
          <p:cNvSpPr/>
          <p:nvPr/>
        </p:nvSpPr>
        <p:spPr>
          <a:xfrm>
            <a:off x="969264" y="3337560"/>
            <a:ext cx="4526280" cy="1216152"/>
          </a:xfrm>
          <a:prstGeom prst="rect">
            <a:avLst/>
          </a:prstGeom>
          <a:noFill/>
          <a:ln/>
        </p:spPr>
        <p:txBody>
          <a:bodyPr wrap="square" lIns="0" tIns="0" rIns="0" bIns="0" rtlCol="0" anchor="ctr"/>
          <a:lstStyle/>
          <a:p>
            <a:pPr indent="0" marL="0">
              <a:buNone/>
            </a:pPr>
            <a:r>
              <a:rPr lang="en-US" sz="1800" dirty="0">
                <a:solidFill>
                  <a:srgbClr val="AEC0D6"/>
                </a:solidFill>
                <a:latin typeface="Aptos" pitchFamily="34" charset="0"/>
                <a:ea typeface="Aptos" pitchFamily="34" charset="-122"/>
                <a:cs typeface="Aptos" pitchFamily="34" charset="-120"/>
              </a:rPr>
              <a:t>Mixture-of-Experts (MoE) activates only a subset of model parameters for each token.</a:t>
            </a:r>
            <a:endParaRPr lang="en-US" sz="1800" dirty="0"/>
          </a:p>
        </p:txBody>
      </p:sp>
      <p:sp>
        <p:nvSpPr>
          <p:cNvPr id="13" name="Text 11"/>
          <p:cNvSpPr/>
          <p:nvPr/>
        </p:nvSpPr>
        <p:spPr>
          <a:xfrm>
            <a:off x="6565392" y="1956816"/>
            <a:ext cx="4572000" cy="438912"/>
          </a:xfrm>
          <a:prstGeom prst="rect">
            <a:avLst/>
          </a:prstGeom>
          <a:noFill/>
          <a:ln/>
        </p:spPr>
        <p:txBody>
          <a:bodyPr wrap="square" lIns="0" tIns="0" rIns="0" bIns="0" rtlCol="0" anchor="ctr"/>
          <a:lstStyle/>
          <a:p>
            <a:pPr indent="0" marL="0">
              <a:buNone/>
            </a:pPr>
            <a:r>
              <a:rPr lang="en-US" sz="2700" b="1" dirty="0">
                <a:solidFill>
                  <a:srgbClr val="53E0C0"/>
                </a:solidFill>
                <a:latin typeface="Aptos" pitchFamily="34" charset="0"/>
                <a:ea typeface="Aptos" pitchFamily="34" charset="-122"/>
                <a:cs typeface="Aptos" pitchFamily="34" charset="-120"/>
              </a:rPr>
              <a:t>DeepSeek-R1</a:t>
            </a:r>
            <a:endParaRPr lang="en-US" sz="2700" dirty="0"/>
          </a:p>
        </p:txBody>
      </p:sp>
      <p:sp>
        <p:nvSpPr>
          <p:cNvPr id="14" name="Text 12"/>
          <p:cNvSpPr/>
          <p:nvPr/>
        </p:nvSpPr>
        <p:spPr>
          <a:xfrm>
            <a:off x="6565392" y="2596896"/>
            <a:ext cx="4480560" cy="548640"/>
          </a:xfrm>
          <a:prstGeom prst="rect">
            <a:avLst/>
          </a:prstGeom>
          <a:noFill/>
          <a:ln/>
        </p:spPr>
        <p:txBody>
          <a:bodyPr wrap="square" lIns="0" tIns="0" rIns="0" bIns="0" rtlCol="0" anchor="ctr"/>
          <a:lstStyle/>
          <a:p>
            <a:pPr indent="0" marL="0">
              <a:buNone/>
            </a:pPr>
            <a:r>
              <a:rPr lang="en-US" sz="1800" b="1" dirty="0">
                <a:solidFill>
                  <a:srgbClr val="F4F8FF"/>
                </a:solidFill>
                <a:latin typeface="Aptos" pitchFamily="34" charset="0"/>
                <a:ea typeface="Aptos" pitchFamily="34" charset="-122"/>
                <a:cs typeface="Aptos" pitchFamily="34" charset="-120"/>
              </a:rPr>
              <a:t>Reasoning-focused model</a:t>
            </a:r>
            <a:endParaRPr lang="en-US" sz="1800" dirty="0"/>
          </a:p>
        </p:txBody>
      </p:sp>
      <p:sp>
        <p:nvSpPr>
          <p:cNvPr id="15" name="Text 13"/>
          <p:cNvSpPr/>
          <p:nvPr/>
        </p:nvSpPr>
        <p:spPr>
          <a:xfrm>
            <a:off x="6565392" y="3337560"/>
            <a:ext cx="4526280" cy="1216152"/>
          </a:xfrm>
          <a:prstGeom prst="rect">
            <a:avLst/>
          </a:prstGeom>
          <a:noFill/>
          <a:ln/>
        </p:spPr>
        <p:txBody>
          <a:bodyPr wrap="square" lIns="0" tIns="0" rIns="0" bIns="0" rtlCol="0" anchor="ctr"/>
          <a:lstStyle/>
          <a:p>
            <a:pPr indent="0" marL="0">
              <a:buNone/>
            </a:pPr>
            <a:r>
              <a:rPr lang="en-US" sz="1800" dirty="0">
                <a:solidFill>
                  <a:srgbClr val="AEC0D6"/>
                </a:solidFill>
                <a:latin typeface="Aptos" pitchFamily="34" charset="0"/>
                <a:ea typeface="Aptos" pitchFamily="34" charset="-122"/>
                <a:cs typeface="Aptos" pitchFamily="34" charset="-120"/>
              </a:rPr>
              <a:t>Uses reinforcement learning to strengthen multi-step reasoning and problem solving.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TRAINING ECONOMICS</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Efficiency changed the conversation</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03 / 06</a:t>
            </a:r>
            <a:endParaRPr lang="en-US" sz="1000" dirty="0"/>
          </a:p>
        </p:txBody>
      </p:sp>
      <p:sp>
        <p:nvSpPr>
          <p:cNvPr id="8" name="Shape 6"/>
          <p:cNvSpPr/>
          <p:nvPr/>
        </p:nvSpPr>
        <p:spPr>
          <a:xfrm>
            <a:off x="658368" y="1700784"/>
            <a:ext cx="6400800" cy="3566160"/>
          </a:xfrm>
          <a:prstGeom prst="roundRect">
            <a:avLst>
              <a:gd name="adj" fmla="val 4103"/>
            </a:avLst>
          </a:prstGeom>
          <a:solidFill>
            <a:srgbClr val="102A43"/>
          </a:solidFill>
          <a:ln w="7620">
            <a:solidFill>
              <a:srgbClr val="2D405B"/>
            </a:solidFill>
            <a:prstDash val="solid"/>
          </a:ln>
        </p:spPr>
      </p:sp>
      <p:sp>
        <p:nvSpPr>
          <p:cNvPr id="9" name="Text 7"/>
          <p:cNvSpPr/>
          <p:nvPr/>
        </p:nvSpPr>
        <p:spPr>
          <a:xfrm>
            <a:off x="950976" y="2075688"/>
            <a:ext cx="5852160" cy="1005840"/>
          </a:xfrm>
          <a:prstGeom prst="rect">
            <a:avLst/>
          </a:prstGeom>
          <a:noFill/>
          <a:ln/>
        </p:spPr>
        <p:txBody>
          <a:bodyPr wrap="square" lIns="0" tIns="0" rIns="0" bIns="0" rtlCol="0" anchor="ctr"/>
          <a:lstStyle/>
          <a:p>
            <a:pPr indent="0" marL="0">
              <a:buNone/>
            </a:pPr>
            <a:r>
              <a:rPr lang="en-US" sz="5800" b="1" dirty="0">
                <a:solidFill>
                  <a:srgbClr val="55C7F5"/>
                </a:solidFill>
                <a:latin typeface="Aptos" pitchFamily="34" charset="0"/>
                <a:ea typeface="Aptos" pitchFamily="34" charset="-122"/>
                <a:cs typeface="Aptos" pitchFamily="34" charset="-120"/>
              </a:rPr>
              <a:t>~$5.6M</a:t>
            </a:r>
            <a:endParaRPr lang="en-US" sz="5800" dirty="0"/>
          </a:p>
        </p:txBody>
      </p:sp>
      <p:sp>
        <p:nvSpPr>
          <p:cNvPr id="10" name="Text 8"/>
          <p:cNvSpPr/>
          <p:nvPr/>
        </p:nvSpPr>
        <p:spPr>
          <a:xfrm>
            <a:off x="987552" y="3236976"/>
            <a:ext cx="5440680" cy="786384"/>
          </a:xfrm>
          <a:prstGeom prst="rect">
            <a:avLst/>
          </a:prstGeom>
          <a:noFill/>
          <a:ln/>
        </p:spPr>
        <p:txBody>
          <a:bodyPr wrap="square" lIns="0" tIns="0" rIns="0" bIns="0" rtlCol="0" anchor="ctr"/>
          <a:lstStyle/>
          <a:p>
            <a:pPr indent="0" marL="0">
              <a:buNone/>
            </a:pPr>
            <a:r>
              <a:rPr lang="en-US" sz="2000" b="1" dirty="0">
                <a:solidFill>
                  <a:srgbClr val="F4F8FF"/>
                </a:solidFill>
                <a:latin typeface="Aptos" pitchFamily="34" charset="0"/>
                <a:ea typeface="Aptos" pitchFamily="34" charset="-122"/>
                <a:cs typeface="Aptos" pitchFamily="34" charset="-120"/>
              </a:rPr>
              <a:t>Reported final V3 pretraining compute estimate</a:t>
            </a:r>
            <a:endParaRPr lang="en-US" sz="2000" dirty="0"/>
          </a:p>
        </p:txBody>
      </p:sp>
      <p:sp>
        <p:nvSpPr>
          <p:cNvPr id="11" name="Text 9"/>
          <p:cNvSpPr/>
          <p:nvPr/>
        </p:nvSpPr>
        <p:spPr>
          <a:xfrm>
            <a:off x="987552" y="4334256"/>
            <a:ext cx="5440680" cy="448056"/>
          </a:xfrm>
          <a:prstGeom prst="rect">
            <a:avLst/>
          </a:prstGeom>
          <a:noFill/>
          <a:ln/>
        </p:spPr>
        <p:txBody>
          <a:bodyPr wrap="square" lIns="0" tIns="0" rIns="0" bIns="0" rtlCol="0" anchor="ctr"/>
          <a:lstStyle/>
          <a:p>
            <a:pPr indent="0" marL="0">
              <a:buNone/>
            </a:pPr>
            <a:r>
              <a:rPr lang="en-US" sz="1500" dirty="0">
                <a:solidFill>
                  <a:srgbClr val="FFCA75"/>
                </a:solidFill>
                <a:latin typeface="Aptos" pitchFamily="34" charset="0"/>
                <a:ea typeface="Aptos" pitchFamily="34" charset="-122"/>
                <a:cs typeface="Aptos" pitchFamily="34" charset="-120"/>
              </a:rPr>
              <a:t>Not the full cost of building DeepSeek or R1</a:t>
            </a:r>
            <a:endParaRPr lang="en-US" sz="1500" dirty="0"/>
          </a:p>
        </p:txBody>
      </p:sp>
      <p:sp>
        <p:nvSpPr>
          <p:cNvPr id="12" name="Shape 10"/>
          <p:cNvSpPr/>
          <p:nvPr/>
        </p:nvSpPr>
        <p:spPr>
          <a:xfrm>
            <a:off x="7333488" y="1700784"/>
            <a:ext cx="4151376" cy="3566160"/>
          </a:xfrm>
          <a:prstGeom prst="roundRect">
            <a:avLst>
              <a:gd name="adj" fmla="val 4103"/>
            </a:avLst>
          </a:prstGeom>
          <a:solidFill>
            <a:srgbClr val="142238"/>
          </a:solidFill>
          <a:ln w="7620">
            <a:solidFill>
              <a:srgbClr val="2D405B"/>
            </a:solidFill>
            <a:prstDash val="solid"/>
          </a:ln>
        </p:spPr>
      </p:sp>
      <p:sp>
        <p:nvSpPr>
          <p:cNvPr id="13" name="Text 11"/>
          <p:cNvSpPr/>
          <p:nvPr/>
        </p:nvSpPr>
        <p:spPr>
          <a:xfrm>
            <a:off x="7644384" y="2084832"/>
            <a:ext cx="3474720" cy="329184"/>
          </a:xfrm>
          <a:prstGeom prst="rect">
            <a:avLst/>
          </a:prstGeom>
          <a:noFill/>
          <a:ln/>
        </p:spPr>
        <p:txBody>
          <a:bodyPr wrap="square" lIns="0" tIns="0" rIns="0" bIns="0" rtlCol="0" anchor="ctr"/>
          <a:lstStyle/>
          <a:p>
            <a:pPr indent="0" marL="0">
              <a:buNone/>
            </a:pPr>
            <a:r>
              <a:rPr lang="en-US" sz="1500" b="1" dirty="0">
                <a:solidFill>
                  <a:srgbClr val="53E0C0"/>
                </a:solidFill>
                <a:latin typeface="Aptos" pitchFamily="34" charset="0"/>
                <a:ea typeface="Aptos" pitchFamily="34" charset="-122"/>
                <a:cs typeface="Aptos" pitchFamily="34" charset="-120"/>
              </a:rPr>
              <a:t>WHY IT MATTERS</a:t>
            </a:r>
            <a:endParaRPr lang="en-US" sz="1500" dirty="0"/>
          </a:p>
        </p:txBody>
      </p:sp>
      <p:sp>
        <p:nvSpPr>
          <p:cNvPr id="14" name="Text 12"/>
          <p:cNvSpPr/>
          <p:nvPr/>
        </p:nvSpPr>
        <p:spPr>
          <a:xfrm>
            <a:off x="7626096" y="2706624"/>
            <a:ext cx="3502152" cy="2286000"/>
          </a:xfrm>
          <a:prstGeom prst="rect">
            <a:avLst/>
          </a:prstGeom>
          <a:noFill/>
          <a:ln/>
        </p:spPr>
        <p:txBody>
          <a:bodyPr wrap="square" lIns="0" tIns="0" rIns="0" bIns="0" rtlCol="0" anchor="ctr"/>
          <a:lstStyle/>
          <a:p>
            <a:pPr indent="0" marL="0">
              <a:buNone/>
            </a:pPr>
            <a:r>
              <a:rPr lang="en-US" sz="1800" dirty="0">
                <a:solidFill>
                  <a:srgbClr val="F4F8FF"/>
                </a:solidFill>
                <a:latin typeface="Aptos" pitchFamily="34" charset="0"/>
                <a:ea typeface="Aptos" pitchFamily="34" charset="-122"/>
                <a:cs typeface="Aptos" pitchFamily="34" charset="-120"/>
              </a:rPr>
              <a:t>• Efficient model architecture</a:t>
            </a:r>
            <a:endParaRPr lang="en-US" sz="1800" dirty="0"/>
          </a:p>
          <a:p>
            <a:pPr indent="0" marL="0">
              <a:buNone/>
            </a:pPr>
            <a:endParaRPr lang="en-US" sz="1800" dirty="0"/>
          </a:p>
          <a:p>
            <a:pPr indent="0" marL="0">
              <a:buNone/>
            </a:pPr>
            <a:r>
              <a:rPr lang="en-US" sz="1800" dirty="0">
                <a:solidFill>
                  <a:srgbClr val="F4F8FF"/>
                </a:solidFill>
                <a:latin typeface="Aptos" pitchFamily="34" charset="0"/>
                <a:ea typeface="Aptos" pitchFamily="34" charset="-122"/>
                <a:cs typeface="Aptos" pitchFamily="34" charset="-120"/>
              </a:rPr>
              <a:t>• Training optimizations</a:t>
            </a:r>
            <a:endParaRPr lang="en-US" sz="1800" dirty="0"/>
          </a:p>
          <a:p>
            <a:pPr indent="0" marL="0">
              <a:buNone/>
            </a:pPr>
            <a:endParaRPr lang="en-US" sz="1800" dirty="0"/>
          </a:p>
          <a:p>
            <a:pPr indent="0" marL="0">
              <a:buNone/>
            </a:pPr>
            <a:r>
              <a:rPr lang="en-US" sz="1800" dirty="0">
                <a:solidFill>
                  <a:srgbClr val="F4F8FF"/>
                </a:solidFill>
                <a:latin typeface="Aptos" pitchFamily="34" charset="0"/>
                <a:ea typeface="Aptos" pitchFamily="34" charset="-122"/>
                <a:cs typeface="Aptos" pitchFamily="34" charset="-120"/>
              </a:rPr>
              <a:t>• New questions about AI costs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MARKET REACTION</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A shock to the AI industry</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04 / 06</a:t>
            </a:r>
            <a:endParaRPr lang="en-US" sz="1000" dirty="0"/>
          </a:p>
        </p:txBody>
      </p:sp>
      <p:sp>
        <p:nvSpPr>
          <p:cNvPr id="8" name="Shape 6"/>
          <p:cNvSpPr/>
          <p:nvPr/>
        </p:nvSpPr>
        <p:spPr>
          <a:xfrm>
            <a:off x="658368" y="1700784"/>
            <a:ext cx="5577840" cy="3520440"/>
          </a:xfrm>
          <a:prstGeom prst="roundRect">
            <a:avLst>
              <a:gd name="adj" fmla="val 4156"/>
            </a:avLst>
          </a:prstGeom>
          <a:solidFill>
            <a:srgbClr val="142238"/>
          </a:solidFill>
          <a:ln w="7620">
            <a:solidFill>
              <a:srgbClr val="2D405B"/>
            </a:solidFill>
            <a:prstDash val="solid"/>
          </a:ln>
        </p:spPr>
      </p:sp>
      <p:sp>
        <p:nvSpPr>
          <p:cNvPr id="9" name="Text 7"/>
          <p:cNvSpPr/>
          <p:nvPr/>
        </p:nvSpPr>
        <p:spPr>
          <a:xfrm>
            <a:off x="941832" y="2167128"/>
            <a:ext cx="4983480" cy="969264"/>
          </a:xfrm>
          <a:prstGeom prst="rect">
            <a:avLst/>
          </a:prstGeom>
          <a:noFill/>
          <a:ln/>
        </p:spPr>
        <p:txBody>
          <a:bodyPr wrap="square" lIns="0" tIns="0" rIns="0" bIns="0" rtlCol="0" anchor="ctr"/>
          <a:lstStyle/>
          <a:p>
            <a:pPr indent="0" marL="0">
              <a:buNone/>
            </a:pPr>
            <a:r>
              <a:rPr lang="en-US" sz="5300" b="1" dirty="0">
                <a:solidFill>
                  <a:srgbClr val="FFCA75"/>
                </a:solidFill>
                <a:latin typeface="Aptos" pitchFamily="34" charset="0"/>
                <a:ea typeface="Aptos" pitchFamily="34" charset="-122"/>
                <a:cs typeface="Aptos" pitchFamily="34" charset="-120"/>
              </a:rPr>
              <a:t>~$593B</a:t>
            </a:r>
            <a:endParaRPr lang="en-US" sz="5300" dirty="0"/>
          </a:p>
        </p:txBody>
      </p:sp>
      <p:sp>
        <p:nvSpPr>
          <p:cNvPr id="10" name="Text 8"/>
          <p:cNvSpPr/>
          <p:nvPr/>
        </p:nvSpPr>
        <p:spPr>
          <a:xfrm>
            <a:off x="960120" y="3364992"/>
            <a:ext cx="4983480" cy="493776"/>
          </a:xfrm>
          <a:prstGeom prst="rect">
            <a:avLst/>
          </a:prstGeom>
          <a:noFill/>
          <a:ln/>
        </p:spPr>
        <p:txBody>
          <a:bodyPr wrap="square" lIns="0" tIns="0" rIns="0" bIns="0" rtlCol="0" anchor="ctr"/>
          <a:lstStyle/>
          <a:p>
            <a:pPr indent="0" marL="0">
              <a:buNone/>
            </a:pPr>
            <a:r>
              <a:rPr lang="en-US" sz="2200" b="1" dirty="0">
                <a:solidFill>
                  <a:srgbClr val="F4F8FF"/>
                </a:solidFill>
                <a:latin typeface="Aptos" pitchFamily="34" charset="0"/>
                <a:ea typeface="Aptos" pitchFamily="34" charset="-122"/>
                <a:cs typeface="Aptos" pitchFamily="34" charset="-120"/>
              </a:rPr>
              <a:t>Nvidia market value lost</a:t>
            </a:r>
            <a:endParaRPr lang="en-US" sz="2200" dirty="0"/>
          </a:p>
        </p:txBody>
      </p:sp>
      <p:sp>
        <p:nvSpPr>
          <p:cNvPr id="11" name="Text 9"/>
          <p:cNvSpPr/>
          <p:nvPr/>
        </p:nvSpPr>
        <p:spPr>
          <a:xfrm>
            <a:off x="960120" y="4160520"/>
            <a:ext cx="4983480" cy="320040"/>
          </a:xfrm>
          <a:prstGeom prst="rect">
            <a:avLst/>
          </a:prstGeom>
          <a:noFill/>
          <a:ln/>
        </p:spPr>
        <p:txBody>
          <a:bodyPr wrap="square" lIns="0" tIns="0" rIns="0" bIns="0" rtlCol="0" anchor="ctr"/>
          <a:lstStyle/>
          <a:p>
            <a:pPr indent="0" marL="0">
              <a:buNone/>
            </a:pPr>
            <a:r>
              <a:rPr lang="en-US" sz="1500" dirty="0">
                <a:solidFill>
                  <a:srgbClr val="AEC0D6"/>
                </a:solidFill>
                <a:latin typeface="Aptos" pitchFamily="34" charset="0"/>
                <a:ea typeface="Aptos" pitchFamily="34" charset="-122"/>
                <a:cs typeface="Aptos" pitchFamily="34" charset="-120"/>
              </a:rPr>
              <a:t>January 27, 2025 · approximately</a:t>
            </a:r>
            <a:endParaRPr lang="en-US" sz="1500" dirty="0"/>
          </a:p>
        </p:txBody>
      </p:sp>
      <p:sp>
        <p:nvSpPr>
          <p:cNvPr id="12" name="Shape 10"/>
          <p:cNvSpPr/>
          <p:nvPr/>
        </p:nvSpPr>
        <p:spPr>
          <a:xfrm>
            <a:off x="6537960" y="1700784"/>
            <a:ext cx="4937760" cy="3520440"/>
          </a:xfrm>
          <a:prstGeom prst="roundRect">
            <a:avLst>
              <a:gd name="adj" fmla="val 4156"/>
            </a:avLst>
          </a:prstGeom>
          <a:solidFill>
            <a:srgbClr val="142238"/>
          </a:solidFill>
          <a:ln w="7620">
            <a:solidFill>
              <a:srgbClr val="2D405B"/>
            </a:solidFill>
            <a:prstDash val="solid"/>
          </a:ln>
        </p:spPr>
      </p:sp>
      <p:sp>
        <p:nvSpPr>
          <p:cNvPr id="13" name="Text 11"/>
          <p:cNvSpPr/>
          <p:nvPr/>
        </p:nvSpPr>
        <p:spPr>
          <a:xfrm>
            <a:off x="6858000" y="2084832"/>
            <a:ext cx="4297680" cy="320040"/>
          </a:xfrm>
          <a:prstGeom prst="rect">
            <a:avLst/>
          </a:prstGeom>
          <a:noFill/>
          <a:ln/>
        </p:spPr>
        <p:txBody>
          <a:bodyPr wrap="square" lIns="0" tIns="0" rIns="0" bIns="0" rtlCol="0" anchor="ctr"/>
          <a:lstStyle/>
          <a:p>
            <a:pPr indent="0" marL="0">
              <a:buNone/>
            </a:pPr>
            <a:r>
              <a:rPr lang="en-US" sz="1600" b="1" dirty="0">
                <a:solidFill>
                  <a:srgbClr val="53E0C0"/>
                </a:solidFill>
                <a:latin typeface="Aptos" pitchFamily="34" charset="0"/>
                <a:ea typeface="Aptos" pitchFamily="34" charset="-122"/>
                <a:cs typeface="Aptos" pitchFamily="34" charset="-120"/>
              </a:rPr>
              <a:t>THE BIG QUESTION</a:t>
            </a:r>
            <a:endParaRPr lang="en-US" sz="1600" dirty="0"/>
          </a:p>
        </p:txBody>
      </p:sp>
      <p:sp>
        <p:nvSpPr>
          <p:cNvPr id="14" name="Text 12"/>
          <p:cNvSpPr/>
          <p:nvPr/>
        </p:nvSpPr>
        <p:spPr>
          <a:xfrm>
            <a:off x="6839712" y="2788920"/>
            <a:ext cx="4160520" cy="1792224"/>
          </a:xfrm>
          <a:prstGeom prst="rect">
            <a:avLst/>
          </a:prstGeom>
          <a:noFill/>
          <a:ln/>
        </p:spPr>
        <p:txBody>
          <a:bodyPr wrap="square" lIns="0" tIns="0" rIns="0" bIns="0" rtlCol="0" anchor="ctr"/>
          <a:lstStyle/>
          <a:p>
            <a:pPr indent="0" marL="0">
              <a:buNone/>
            </a:pPr>
            <a:r>
              <a:rPr lang="en-US" sz="2300" b="1" dirty="0">
                <a:solidFill>
                  <a:srgbClr val="F4F8FF"/>
                </a:solidFill>
                <a:latin typeface="Aptos" pitchFamily="34" charset="0"/>
                <a:ea typeface="Aptos" pitchFamily="34" charset="-122"/>
                <a:cs typeface="Aptos" pitchFamily="34" charset="-120"/>
              </a:rPr>
              <a:t>Will future AI progress always require rapidly growing spending on chips and infrastructure?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SOFTWARE DEVELOPMENT</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What it means for developers</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05 / 06</a:t>
            </a:r>
            <a:endParaRPr lang="en-US" sz="1000" dirty="0"/>
          </a:p>
        </p:txBody>
      </p:sp>
      <p:sp>
        <p:nvSpPr>
          <p:cNvPr id="8" name="Shape 6"/>
          <p:cNvSpPr/>
          <p:nvPr/>
        </p:nvSpPr>
        <p:spPr>
          <a:xfrm>
            <a:off x="658368" y="1746504"/>
            <a:ext cx="3493008" cy="3465576"/>
          </a:xfrm>
          <a:prstGeom prst="roundRect">
            <a:avLst>
              <a:gd name="adj" fmla="val 4222"/>
            </a:avLst>
          </a:prstGeom>
          <a:solidFill>
            <a:srgbClr val="142238"/>
          </a:solidFill>
          <a:ln w="7620">
            <a:solidFill>
              <a:srgbClr val="2D405B"/>
            </a:solidFill>
            <a:prstDash val="solid"/>
          </a:ln>
        </p:spPr>
      </p:sp>
      <p:sp>
        <p:nvSpPr>
          <p:cNvPr id="9" name="Text 7"/>
          <p:cNvSpPr/>
          <p:nvPr/>
        </p:nvSpPr>
        <p:spPr>
          <a:xfrm>
            <a:off x="914400" y="2039112"/>
            <a:ext cx="2907792" cy="502920"/>
          </a:xfrm>
          <a:prstGeom prst="rect">
            <a:avLst/>
          </a:prstGeom>
          <a:noFill/>
          <a:ln/>
        </p:spPr>
        <p:txBody>
          <a:bodyPr wrap="square" lIns="0" tIns="0" rIns="0" bIns="0" rtlCol="0" anchor="ctr"/>
          <a:lstStyle/>
          <a:p>
            <a:pPr indent="0" marL="0">
              <a:buNone/>
            </a:pPr>
            <a:r>
              <a:rPr lang="en-US" sz="3000" b="1" dirty="0">
                <a:solidFill>
                  <a:srgbClr val="55C7F5"/>
                </a:solidFill>
                <a:latin typeface="Aptos" pitchFamily="34" charset="0"/>
                <a:ea typeface="Aptos" pitchFamily="34" charset="-122"/>
                <a:cs typeface="Aptos" pitchFamily="34" charset="-120"/>
              </a:rPr>
              <a:t>01</a:t>
            </a:r>
            <a:endParaRPr lang="en-US" sz="3000" dirty="0"/>
          </a:p>
        </p:txBody>
      </p:sp>
      <p:sp>
        <p:nvSpPr>
          <p:cNvPr id="10" name="Text 8"/>
          <p:cNvSpPr/>
          <p:nvPr/>
        </p:nvSpPr>
        <p:spPr>
          <a:xfrm>
            <a:off x="914400" y="2834640"/>
            <a:ext cx="2926080" cy="402336"/>
          </a:xfrm>
          <a:prstGeom prst="rect">
            <a:avLst/>
          </a:prstGeom>
          <a:noFill/>
          <a:ln/>
        </p:spPr>
        <p:txBody>
          <a:bodyPr wrap="square" lIns="0" tIns="0" rIns="0" bIns="0" rtlCol="0" anchor="ctr"/>
          <a:lstStyle/>
          <a:p>
            <a:pPr indent="0" marL="0">
              <a:buNone/>
            </a:pPr>
            <a:r>
              <a:rPr lang="en-US" sz="1700" b="1" dirty="0">
                <a:solidFill>
                  <a:srgbClr val="53E0C0"/>
                </a:solidFill>
                <a:latin typeface="Aptos" pitchFamily="34" charset="0"/>
                <a:ea typeface="Aptos" pitchFamily="34" charset="-122"/>
                <a:cs typeface="Aptos" pitchFamily="34" charset="-120"/>
              </a:rPr>
              <a:t>MORE CHOICE</a:t>
            </a:r>
            <a:endParaRPr lang="en-US" sz="1700" dirty="0"/>
          </a:p>
        </p:txBody>
      </p:sp>
      <p:sp>
        <p:nvSpPr>
          <p:cNvPr id="11" name="Text 9"/>
          <p:cNvSpPr/>
          <p:nvPr/>
        </p:nvSpPr>
        <p:spPr>
          <a:xfrm>
            <a:off x="914400" y="3538728"/>
            <a:ext cx="2880360" cy="1280160"/>
          </a:xfrm>
          <a:prstGeom prst="rect">
            <a:avLst/>
          </a:prstGeom>
          <a:noFill/>
          <a:ln/>
        </p:spPr>
        <p:txBody>
          <a:bodyPr wrap="square" lIns="0" tIns="0" rIns="0" bIns="0" rtlCol="0" anchor="ctr"/>
          <a:lstStyle/>
          <a:p>
            <a:pPr indent="0" marL="0">
              <a:buNone/>
            </a:pPr>
            <a:r>
              <a:rPr lang="en-US" sz="1700" dirty="0">
                <a:solidFill>
                  <a:srgbClr val="F4F8FF"/>
                </a:solidFill>
                <a:latin typeface="Aptos" pitchFamily="34" charset="0"/>
                <a:ea typeface="Aptos" pitchFamily="34" charset="-122"/>
                <a:cs typeface="Aptos" pitchFamily="34" charset="-120"/>
              </a:rPr>
              <a:t>Open-weight models can be downloaded, adapted, and deployed.</a:t>
            </a:r>
            <a:endParaRPr lang="en-US" sz="1700" dirty="0"/>
          </a:p>
        </p:txBody>
      </p:sp>
      <p:sp>
        <p:nvSpPr>
          <p:cNvPr id="12" name="Shape 10"/>
          <p:cNvSpPr/>
          <p:nvPr/>
        </p:nvSpPr>
        <p:spPr>
          <a:xfrm>
            <a:off x="4453128" y="1746504"/>
            <a:ext cx="3493008" cy="3465576"/>
          </a:xfrm>
          <a:prstGeom prst="roundRect">
            <a:avLst>
              <a:gd name="adj" fmla="val 4222"/>
            </a:avLst>
          </a:prstGeom>
          <a:solidFill>
            <a:srgbClr val="142238"/>
          </a:solidFill>
          <a:ln w="7620">
            <a:solidFill>
              <a:srgbClr val="2D405B"/>
            </a:solidFill>
            <a:prstDash val="solid"/>
          </a:ln>
        </p:spPr>
      </p:sp>
      <p:sp>
        <p:nvSpPr>
          <p:cNvPr id="13" name="Text 11"/>
          <p:cNvSpPr/>
          <p:nvPr/>
        </p:nvSpPr>
        <p:spPr>
          <a:xfrm>
            <a:off x="4709160" y="2039112"/>
            <a:ext cx="2907792" cy="502920"/>
          </a:xfrm>
          <a:prstGeom prst="rect">
            <a:avLst/>
          </a:prstGeom>
          <a:noFill/>
          <a:ln/>
        </p:spPr>
        <p:txBody>
          <a:bodyPr wrap="square" lIns="0" tIns="0" rIns="0" bIns="0" rtlCol="0" anchor="ctr"/>
          <a:lstStyle/>
          <a:p>
            <a:pPr indent="0" marL="0">
              <a:buNone/>
            </a:pPr>
            <a:r>
              <a:rPr lang="en-US" sz="3000" b="1" dirty="0">
                <a:solidFill>
                  <a:srgbClr val="55C7F5"/>
                </a:solidFill>
                <a:latin typeface="Aptos" pitchFamily="34" charset="0"/>
                <a:ea typeface="Aptos" pitchFamily="34" charset="-122"/>
                <a:cs typeface="Aptos" pitchFamily="34" charset="-120"/>
              </a:rPr>
              <a:t>02</a:t>
            </a:r>
            <a:endParaRPr lang="en-US" sz="3000" dirty="0"/>
          </a:p>
        </p:txBody>
      </p:sp>
      <p:sp>
        <p:nvSpPr>
          <p:cNvPr id="14" name="Text 12"/>
          <p:cNvSpPr/>
          <p:nvPr/>
        </p:nvSpPr>
        <p:spPr>
          <a:xfrm>
            <a:off x="4709160" y="2834640"/>
            <a:ext cx="2926080" cy="402336"/>
          </a:xfrm>
          <a:prstGeom prst="rect">
            <a:avLst/>
          </a:prstGeom>
          <a:noFill/>
          <a:ln/>
        </p:spPr>
        <p:txBody>
          <a:bodyPr wrap="square" lIns="0" tIns="0" rIns="0" bIns="0" rtlCol="0" anchor="ctr"/>
          <a:lstStyle/>
          <a:p>
            <a:pPr indent="0" marL="0">
              <a:buNone/>
            </a:pPr>
            <a:r>
              <a:rPr lang="en-US" sz="1700" b="1" dirty="0">
                <a:solidFill>
                  <a:srgbClr val="53E0C0"/>
                </a:solidFill>
                <a:latin typeface="Aptos" pitchFamily="34" charset="0"/>
                <a:ea typeface="Aptos" pitchFamily="34" charset="-122"/>
                <a:cs typeface="Aptos" pitchFamily="34" charset="-120"/>
              </a:rPr>
              <a:t>LOWER BARRIERS</a:t>
            </a:r>
            <a:endParaRPr lang="en-US" sz="1700" dirty="0"/>
          </a:p>
        </p:txBody>
      </p:sp>
      <p:sp>
        <p:nvSpPr>
          <p:cNvPr id="15" name="Text 13"/>
          <p:cNvSpPr/>
          <p:nvPr/>
        </p:nvSpPr>
        <p:spPr>
          <a:xfrm>
            <a:off x="4709160" y="3538728"/>
            <a:ext cx="2880360" cy="1280160"/>
          </a:xfrm>
          <a:prstGeom prst="rect">
            <a:avLst/>
          </a:prstGeom>
          <a:noFill/>
          <a:ln/>
        </p:spPr>
        <p:txBody>
          <a:bodyPr wrap="square" lIns="0" tIns="0" rIns="0" bIns="0" rtlCol="0" anchor="ctr"/>
          <a:lstStyle/>
          <a:p>
            <a:pPr indent="0" marL="0">
              <a:buNone/>
            </a:pPr>
            <a:r>
              <a:rPr lang="en-US" sz="1700" dirty="0">
                <a:solidFill>
                  <a:srgbClr val="F4F8FF"/>
                </a:solidFill>
                <a:latin typeface="Aptos" pitchFamily="34" charset="0"/>
                <a:ea typeface="Aptos" pitchFamily="34" charset="-122"/>
                <a:cs typeface="Aptos" pitchFamily="34" charset="-120"/>
              </a:rPr>
              <a:t>Efficiency may make experimentation more accessible.</a:t>
            </a:r>
            <a:endParaRPr lang="en-US" sz="1700" dirty="0"/>
          </a:p>
        </p:txBody>
      </p:sp>
      <p:sp>
        <p:nvSpPr>
          <p:cNvPr id="16" name="Shape 14"/>
          <p:cNvSpPr/>
          <p:nvPr/>
        </p:nvSpPr>
        <p:spPr>
          <a:xfrm>
            <a:off x="8247888" y="1746504"/>
            <a:ext cx="3493008" cy="3465576"/>
          </a:xfrm>
          <a:prstGeom prst="roundRect">
            <a:avLst>
              <a:gd name="adj" fmla="val 4222"/>
            </a:avLst>
          </a:prstGeom>
          <a:solidFill>
            <a:srgbClr val="142238"/>
          </a:solidFill>
          <a:ln w="7620">
            <a:solidFill>
              <a:srgbClr val="2D405B"/>
            </a:solidFill>
            <a:prstDash val="solid"/>
          </a:ln>
        </p:spPr>
      </p:sp>
      <p:sp>
        <p:nvSpPr>
          <p:cNvPr id="17" name="Text 15"/>
          <p:cNvSpPr/>
          <p:nvPr/>
        </p:nvSpPr>
        <p:spPr>
          <a:xfrm>
            <a:off x="8503920" y="2039112"/>
            <a:ext cx="2907792" cy="502920"/>
          </a:xfrm>
          <a:prstGeom prst="rect">
            <a:avLst/>
          </a:prstGeom>
          <a:noFill/>
          <a:ln/>
        </p:spPr>
        <p:txBody>
          <a:bodyPr wrap="square" lIns="0" tIns="0" rIns="0" bIns="0" rtlCol="0" anchor="ctr"/>
          <a:lstStyle/>
          <a:p>
            <a:pPr indent="0" marL="0">
              <a:buNone/>
            </a:pPr>
            <a:r>
              <a:rPr lang="en-US" sz="3000" b="1" dirty="0">
                <a:solidFill>
                  <a:srgbClr val="55C7F5"/>
                </a:solidFill>
                <a:latin typeface="Aptos" pitchFamily="34" charset="0"/>
                <a:ea typeface="Aptos" pitchFamily="34" charset="-122"/>
                <a:cs typeface="Aptos" pitchFamily="34" charset="-120"/>
              </a:rPr>
              <a:t>03</a:t>
            </a:r>
            <a:endParaRPr lang="en-US" sz="3000" dirty="0"/>
          </a:p>
        </p:txBody>
      </p:sp>
      <p:sp>
        <p:nvSpPr>
          <p:cNvPr id="18" name="Text 16"/>
          <p:cNvSpPr/>
          <p:nvPr/>
        </p:nvSpPr>
        <p:spPr>
          <a:xfrm>
            <a:off x="8503920" y="2834640"/>
            <a:ext cx="2926080" cy="402336"/>
          </a:xfrm>
          <a:prstGeom prst="rect">
            <a:avLst/>
          </a:prstGeom>
          <a:noFill/>
          <a:ln/>
        </p:spPr>
        <p:txBody>
          <a:bodyPr wrap="square" lIns="0" tIns="0" rIns="0" bIns="0" rtlCol="0" anchor="ctr"/>
          <a:lstStyle/>
          <a:p>
            <a:pPr indent="0" marL="0">
              <a:buNone/>
            </a:pPr>
            <a:r>
              <a:rPr lang="en-US" sz="1700" b="1" dirty="0">
                <a:solidFill>
                  <a:srgbClr val="53E0C0"/>
                </a:solidFill>
                <a:latin typeface="Aptos" pitchFamily="34" charset="0"/>
                <a:ea typeface="Aptos" pitchFamily="34" charset="-122"/>
                <a:cs typeface="Aptos" pitchFamily="34" charset="-120"/>
              </a:rPr>
              <a:t>NEW RESPONSIBILITIES</a:t>
            </a:r>
            <a:endParaRPr lang="en-US" sz="1700" dirty="0"/>
          </a:p>
        </p:txBody>
      </p:sp>
      <p:sp>
        <p:nvSpPr>
          <p:cNvPr id="19" name="Text 17"/>
          <p:cNvSpPr/>
          <p:nvPr/>
        </p:nvSpPr>
        <p:spPr>
          <a:xfrm>
            <a:off x="8503920" y="3538728"/>
            <a:ext cx="2880360" cy="1280160"/>
          </a:xfrm>
          <a:prstGeom prst="rect">
            <a:avLst/>
          </a:prstGeom>
          <a:noFill/>
          <a:ln/>
        </p:spPr>
        <p:txBody>
          <a:bodyPr wrap="square" lIns="0" tIns="0" rIns="0" bIns="0" rtlCol="0" anchor="ctr"/>
          <a:lstStyle/>
          <a:p>
            <a:pPr indent="0" marL="0">
              <a:buNone/>
            </a:pPr>
            <a:r>
              <a:rPr lang="en-US" sz="1700" dirty="0">
                <a:solidFill>
                  <a:srgbClr val="F4F8FF"/>
                </a:solidFill>
                <a:latin typeface="Aptos" pitchFamily="34" charset="0"/>
                <a:ea typeface="Aptos" pitchFamily="34" charset="-122"/>
                <a:cs typeface="Aptos" pitchFamily="34" charset="-120"/>
              </a:rPr>
              <a:t>Evaluate quality, security, privacy, and licensing.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55C7F5"/>
          </a:solidFill>
          <a:ln w="12700">
            <a:solidFill>
              <a:srgbClr val="55C7F5"/>
            </a:solidFill>
            <a:prstDash val="solid"/>
          </a:ln>
        </p:spPr>
      </p:sp>
      <p:sp>
        <p:nvSpPr>
          <p:cNvPr id="3" name="Text 1"/>
          <p:cNvSpPr/>
          <p:nvPr/>
        </p:nvSpPr>
        <p:spPr>
          <a:xfrm>
            <a:off x="621792" y="329184"/>
            <a:ext cx="9144000" cy="256032"/>
          </a:xfrm>
          <a:prstGeom prst="rect">
            <a:avLst/>
          </a:prstGeom>
          <a:noFill/>
          <a:ln/>
        </p:spPr>
        <p:txBody>
          <a:bodyPr wrap="square" lIns="0" tIns="0" rIns="0" bIns="0" rtlCol="0" anchor="ctr"/>
          <a:lstStyle/>
          <a:p>
            <a:pPr indent="0" marL="0">
              <a:buNone/>
            </a:pPr>
            <a:r>
              <a:rPr lang="en-US" sz="1100" b="1" spc="200" kern="0" dirty="0">
                <a:solidFill>
                  <a:srgbClr val="53E0C0"/>
                </a:solidFill>
                <a:latin typeface="Aptos" pitchFamily="34" charset="0"/>
                <a:ea typeface="Aptos" pitchFamily="34" charset="-122"/>
                <a:cs typeface="Aptos" pitchFamily="34" charset="-120"/>
              </a:rPr>
              <a:t>CONCLUSION</a:t>
            </a:r>
            <a:endParaRPr lang="en-US" sz="1100" dirty="0"/>
          </a:p>
        </p:txBody>
      </p:sp>
      <p:sp>
        <p:nvSpPr>
          <p:cNvPr id="4" name="Text 2"/>
          <p:cNvSpPr/>
          <p:nvPr/>
        </p:nvSpPr>
        <p:spPr>
          <a:xfrm>
            <a:off x="621792" y="795528"/>
            <a:ext cx="10881360" cy="713232"/>
          </a:xfrm>
          <a:prstGeom prst="rect">
            <a:avLst/>
          </a:prstGeom>
          <a:noFill/>
          <a:ln/>
        </p:spPr>
        <p:txBody>
          <a:bodyPr wrap="square" lIns="0" tIns="0" rIns="0" bIns="0" rtlCol="0" anchor="ctr"/>
          <a:lstStyle/>
          <a:p>
            <a:pPr indent="0" marL="0">
              <a:buNone/>
            </a:pPr>
            <a:r>
              <a:rPr lang="en-US" sz="3200" b="1" dirty="0">
                <a:solidFill>
                  <a:srgbClr val="F4F8FF"/>
                </a:solidFill>
                <a:latin typeface="Aptos" pitchFamily="34" charset="0"/>
                <a:ea typeface="Aptos" pitchFamily="34" charset="-122"/>
                <a:cs typeface="Aptos" pitchFamily="34" charset="-120"/>
              </a:rPr>
              <a:t>The takeaway: efficiency matters</a:t>
            </a:r>
            <a:endParaRPr lang="en-US" sz="3200" dirty="0"/>
          </a:p>
        </p:txBody>
      </p:sp>
      <p:sp>
        <p:nvSpPr>
          <p:cNvPr id="5" name="Shape 3"/>
          <p:cNvSpPr/>
          <p:nvPr/>
        </p:nvSpPr>
        <p:spPr>
          <a:xfrm>
            <a:off x="621792" y="6318504"/>
            <a:ext cx="10927080" cy="0"/>
          </a:xfrm>
          <a:prstGeom prst="line">
            <a:avLst/>
          </a:prstGeom>
          <a:noFill/>
          <a:ln w="12700">
            <a:solidFill>
              <a:srgbClr val="2D405B"/>
            </a:solidFill>
            <a:prstDash val="solid"/>
          </a:ln>
        </p:spPr>
      </p:sp>
      <p:sp>
        <p:nvSpPr>
          <p:cNvPr id="6" name="Text 4"/>
          <p:cNvSpPr/>
          <p:nvPr/>
        </p:nvSpPr>
        <p:spPr>
          <a:xfrm>
            <a:off x="621792" y="6437376"/>
            <a:ext cx="6400800" cy="173736"/>
          </a:xfrm>
          <a:prstGeom prst="rect">
            <a:avLst/>
          </a:prstGeom>
          <a:noFill/>
          <a:ln/>
        </p:spPr>
        <p:txBody>
          <a:bodyPr wrap="square" lIns="0" tIns="0" rIns="0" bIns="0" rtlCol="0" anchor="ctr"/>
          <a:lstStyle/>
          <a:p>
            <a:pPr indent="0" marL="0">
              <a:buNone/>
            </a:pPr>
            <a:r>
              <a:rPr lang="en-US" sz="900" spc="130" kern="0" dirty="0">
                <a:solidFill>
                  <a:srgbClr val="AEC0D6"/>
                </a:solidFill>
                <a:latin typeface="Aptos" pitchFamily="34" charset="0"/>
                <a:ea typeface="Aptos" pitchFamily="34" charset="-122"/>
                <a:cs typeface="Aptos" pitchFamily="34" charset="-120"/>
              </a:rPr>
              <a:t>DEEPSEEK  /  CEP146</a:t>
            </a:r>
            <a:endParaRPr lang="en-US" sz="900" dirty="0"/>
          </a:p>
        </p:txBody>
      </p:sp>
      <p:sp>
        <p:nvSpPr>
          <p:cNvPr id="7" name="Text 5"/>
          <p:cNvSpPr/>
          <p:nvPr/>
        </p:nvSpPr>
        <p:spPr>
          <a:xfrm>
            <a:off x="10607040" y="6419088"/>
            <a:ext cx="932688" cy="201168"/>
          </a:xfrm>
          <a:prstGeom prst="rect">
            <a:avLst/>
          </a:prstGeom>
          <a:noFill/>
          <a:ln/>
        </p:spPr>
        <p:txBody>
          <a:bodyPr wrap="square" lIns="0" tIns="0" rIns="0" bIns="0" rtlCol="0" anchor="ctr"/>
          <a:lstStyle/>
          <a:p>
            <a:pPr algn="r" indent="0" marL="0">
              <a:buNone/>
            </a:pPr>
            <a:r>
              <a:rPr lang="en-US" sz="1000" dirty="0">
                <a:solidFill>
                  <a:srgbClr val="AEC0D6"/>
                </a:solidFill>
                <a:latin typeface="Aptos" pitchFamily="34" charset="0"/>
                <a:ea typeface="Aptos" pitchFamily="34" charset="-122"/>
                <a:cs typeface="Aptos" pitchFamily="34" charset="-120"/>
              </a:rPr>
              <a:t>06 / 06</a:t>
            </a:r>
            <a:endParaRPr lang="en-US" sz="1000" dirty="0"/>
          </a:p>
        </p:txBody>
      </p:sp>
      <p:sp>
        <p:nvSpPr>
          <p:cNvPr id="8" name="Text 6"/>
          <p:cNvSpPr/>
          <p:nvPr/>
        </p:nvSpPr>
        <p:spPr>
          <a:xfrm>
            <a:off x="685800" y="1773936"/>
            <a:ext cx="10698480" cy="1051560"/>
          </a:xfrm>
          <a:prstGeom prst="rect">
            <a:avLst/>
          </a:prstGeom>
          <a:noFill/>
          <a:ln/>
        </p:spPr>
        <p:txBody>
          <a:bodyPr wrap="square" lIns="0" tIns="0" rIns="0" bIns="0" rtlCol="0" anchor="ctr"/>
          <a:lstStyle/>
          <a:p>
            <a:pPr indent="0" marL="0">
              <a:buNone/>
            </a:pPr>
            <a:r>
              <a:rPr lang="en-US" sz="2900" b="1" dirty="0">
                <a:solidFill>
                  <a:srgbClr val="F4F8FF"/>
                </a:solidFill>
                <a:latin typeface="Aptos" pitchFamily="34" charset="0"/>
                <a:ea typeface="Aptos" pitchFamily="34" charset="-122"/>
                <a:cs typeface="Aptos" pitchFamily="34" charset="-120"/>
              </a:rPr>
              <a:t>DeepSeek showed that progress in AI is not only about building bigger models.</a:t>
            </a:r>
            <a:endParaRPr lang="en-US" sz="2900" dirty="0"/>
          </a:p>
        </p:txBody>
      </p:sp>
      <p:sp>
        <p:nvSpPr>
          <p:cNvPr id="9" name="Shape 7"/>
          <p:cNvSpPr/>
          <p:nvPr/>
        </p:nvSpPr>
        <p:spPr>
          <a:xfrm>
            <a:off x="667512" y="3127248"/>
            <a:ext cx="10808208" cy="1344168"/>
          </a:xfrm>
          <a:prstGeom prst="roundRect">
            <a:avLst>
              <a:gd name="adj" fmla="val 10884"/>
            </a:avLst>
          </a:prstGeom>
          <a:solidFill>
            <a:srgbClr val="102A43"/>
          </a:solidFill>
          <a:ln w="7620">
            <a:solidFill>
              <a:srgbClr val="2D405B"/>
            </a:solidFill>
            <a:prstDash val="solid"/>
          </a:ln>
        </p:spPr>
      </p:sp>
      <p:sp>
        <p:nvSpPr>
          <p:cNvPr id="10" name="Text 8"/>
          <p:cNvSpPr/>
          <p:nvPr/>
        </p:nvSpPr>
        <p:spPr>
          <a:xfrm>
            <a:off x="996696" y="3538728"/>
            <a:ext cx="10149840" cy="484632"/>
          </a:xfrm>
          <a:prstGeom prst="rect">
            <a:avLst/>
          </a:prstGeom>
          <a:noFill/>
          <a:ln/>
        </p:spPr>
        <p:txBody>
          <a:bodyPr wrap="square" lIns="0" tIns="0" rIns="0" bIns="0" rtlCol="0" anchor="ctr"/>
          <a:lstStyle/>
          <a:p>
            <a:pPr algn="ctr" indent="0" marL="0">
              <a:buNone/>
            </a:pPr>
            <a:r>
              <a:rPr lang="en-US" sz="2700" b="1" dirty="0">
                <a:solidFill>
                  <a:srgbClr val="53E0C0"/>
                </a:solidFill>
                <a:latin typeface="Aptos" pitchFamily="34" charset="0"/>
                <a:ea typeface="Aptos" pitchFamily="34" charset="-122"/>
                <a:cs typeface="Aptos" pitchFamily="34" charset="-120"/>
              </a:rPr>
              <a:t>Innovation  +  Efficiency  +  Accessibility</a:t>
            </a:r>
            <a:endParaRPr lang="en-US" sz="2700" dirty="0"/>
          </a:p>
        </p:txBody>
      </p:sp>
      <p:sp>
        <p:nvSpPr>
          <p:cNvPr id="11" name="Text 9"/>
          <p:cNvSpPr/>
          <p:nvPr/>
        </p:nvSpPr>
        <p:spPr>
          <a:xfrm>
            <a:off x="704088" y="5074920"/>
            <a:ext cx="10744200" cy="576072"/>
          </a:xfrm>
          <a:prstGeom prst="rect">
            <a:avLst/>
          </a:prstGeom>
          <a:noFill/>
          <a:ln/>
        </p:spPr>
        <p:txBody>
          <a:bodyPr wrap="square" lIns="0" tIns="0" rIns="0" bIns="0" rtlCol="0" anchor="ctr"/>
          <a:lstStyle/>
          <a:p>
            <a:pPr indent="0" marL="0">
              <a:buNone/>
            </a:pPr>
            <a:r>
              <a:rPr lang="en-US" sz="1200" dirty="0">
                <a:solidFill>
                  <a:srgbClr val="AEC0D6"/>
                </a:solidFill>
                <a:latin typeface="Aptos" pitchFamily="34" charset="0"/>
                <a:ea typeface="Aptos" pitchFamily="34" charset="-122"/>
                <a:cs typeface="Aptos" pitchFamily="34" charset="-120"/>
              </a:rPr>
              <a:t>Sources: DeepSeek-V3 (arXiv:2412.19437) · DeepSeek-R1 (arXiv:2501.12948) · Reuters (Jan. 27, 2025)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The AI Breakthrough</dc:title>
  <dc:subject>DeepSeek January 2025 AI breakthrough</dc:subject>
  <dc:creator>CEP146 Project Team</dc:creator>
  <cp:lastModifiedBy>CEP146 Project Team</cp:lastModifiedBy>
  <cp:revision>1</cp:revision>
  <dcterms:created xsi:type="dcterms:W3CDTF">2026-10-21T00:23:51Z</dcterms:created>
  <dcterms:modified xsi:type="dcterms:W3CDTF">2026-10-21T00:23:51Z</dcterms:modified>
</cp:coreProperties>
</file>